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2.svg" ContentType="image/svg+xml"/>
  <Override PartName="/ppt/media/image-5-2.svg" ContentType="image/svg+xml"/>
  <Override PartName="/ppt/media/image-5-4.svg" ContentType="image/svg+xml"/>
  <Override PartName="/ppt/media/image-5-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nstrument Sans Medium"/>
      <p:regular r:id="rId201314"/>
    </p:embeddedFont>
    <p:embeddedFont>
      <p:font typeface="Instrument Sans SemiBold"/>
      <p:regular r:id="rId201315"/>
    </p:embeddedFont>
    <p:embeddedFont>
      <p:font typeface="Instrument Sans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image" Target="../media/image-3-1.png"/><Relationship Id="rId10" Type="http://schemas.openxmlformats.org/officeDocument/2006/relationships/image" Target="../media/image-3-2.sv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1210" y="0"/>
                </a:lnTo>
                <a:lnTo>
                  <a:pt x="92090" y="2640"/>
                </a:lnTo>
                <a:lnTo>
                  <a:pt x="93070" y="7030"/>
                </a:lnTo>
                <a:lnTo>
                  <a:pt x="93650" y="11330"/>
                </a:lnTo>
                <a:lnTo>
                  <a:pt x="93850" y="14750"/>
                </a:lnTo>
                <a:lnTo>
                  <a:pt x="93460" y="21970"/>
                </a:lnTo>
                <a:lnTo>
                  <a:pt x="91990" y="31150"/>
                </a:lnTo>
                <a:lnTo>
                  <a:pt x="91410" y="36520"/>
                </a:lnTo>
                <a:lnTo>
                  <a:pt x="91210" y="40040"/>
                </a:lnTo>
                <a:lnTo>
                  <a:pt x="91310" y="45700"/>
                </a:lnTo>
                <a:lnTo>
                  <a:pt x="91890" y="48930"/>
                </a:lnTo>
                <a:lnTo>
                  <a:pt x="93160" y="52540"/>
                </a:lnTo>
                <a:lnTo>
                  <a:pt x="94920" y="56050"/>
                </a:lnTo>
                <a:lnTo>
                  <a:pt x="97170" y="59860"/>
                </a:lnTo>
                <a:lnTo>
                  <a:pt x="98730" y="63280"/>
                </a:lnTo>
                <a:lnTo>
                  <a:pt x="99800" y="67290"/>
                </a:lnTo>
                <a:lnTo>
                  <a:pt x="100000" y="71480"/>
                </a:lnTo>
                <a:lnTo>
                  <a:pt x="99710" y="73630"/>
                </a:lnTo>
                <a:lnTo>
                  <a:pt x="99020" y="76460"/>
                </a:lnTo>
                <a:lnTo>
                  <a:pt x="97750" y="80180"/>
                </a:lnTo>
                <a:lnTo>
                  <a:pt x="96390" y="83400"/>
                </a:lnTo>
                <a:lnTo>
                  <a:pt x="91890" y="91990"/>
                </a:lnTo>
                <a:lnTo>
                  <a:pt x="89450" y="96000"/>
                </a:lnTo>
                <a:lnTo>
                  <a:pt x="86720" y="100000"/>
                </a:lnTo>
                <a:lnTo>
                  <a:pt x="0" y="100000"/>
                </a:lnTo>
                <a:close/>
              </a:path>
            </a:pathLst>
          </a:custGeom>
        </p:spPr>
      </p:pic>
      <p:sp>
        <p:nvSpPr>
          <p:cNvPr id="3" name="Text 0"/>
          <p:cNvSpPr/>
          <p:nvPr/>
        </p:nvSpPr>
        <p:spPr>
          <a:xfrm>
            <a:off x="5233360" y="1969294"/>
            <a:ext cx="6296860" cy="516731"/>
          </a:xfrm>
          <a:prstGeom prst="rect">
            <a:avLst/>
          </a:prstGeom>
          <a:noFill/>
          <a:ln/>
        </p:spPr>
        <p:txBody>
          <a:bodyPr wrap="none" lIns="0" tIns="0" rIns="0" bIns="0" rtlCol="0" anchor="t"/>
          <a:lstStyle/>
          <a:p>
            <a:pPr algn="l" indent="0" marL="0">
              <a:lnSpc>
                <a:spcPct val="104000"/>
              </a:lnSpc>
              <a:buNone/>
            </a:pPr>
            <a:r>
              <a:rPr lang="en-US" sz="3250" dirty="0">
                <a:solidFill>
                  <a:srgbClr val="091C53"/>
                </a:solidFill>
                <a:latin typeface="Instrument Sans SemiBold" pitchFamily="34" charset="0"/>
                <a:ea typeface="Instrument Sans SemiBold" pitchFamily="34" charset="-122"/>
                <a:cs typeface="Instrument Sans SemiBold" pitchFamily="34" charset="-120"/>
              </a:rPr>
              <a:t>Aushadh Setu</a:t>
            </a:r>
            <a:endParaRPr lang="en-US" sz="3250" dirty="0"/>
          </a:p>
        </p:txBody>
      </p:sp>
      <p:sp>
        <p:nvSpPr>
          <p:cNvPr id="4" name="Text 1"/>
          <p:cNvSpPr/>
          <p:nvPr/>
        </p:nvSpPr>
        <p:spPr>
          <a:xfrm>
            <a:off x="5233360" y="2552105"/>
            <a:ext cx="6296860" cy="258465"/>
          </a:xfrm>
          <a:prstGeom prst="rect">
            <a:avLst/>
          </a:prstGeom>
          <a:noFill/>
          <a:ln/>
        </p:spPr>
        <p:txBody>
          <a:bodyPr wrap="none" lIns="0" tIns="0" rIns="0" bIns="0" rtlCol="0" anchor="t"/>
          <a:lstStyle/>
          <a:p>
            <a:pPr algn="l" indent="0" marL="0">
              <a:lnSpc>
                <a:spcPct val="104000"/>
              </a:lnSpc>
              <a:buNone/>
            </a:pPr>
            <a:r>
              <a:t>औषध सेतु — Outbreak-Aware Medicine Intelligence Grid</a:t>
            </a:r>
            <a:endParaRPr lang="hi-IN" sz="1600" dirty="0"/>
          </a:p>
        </p:txBody>
      </p:sp>
      <p:sp>
        <p:nvSpPr>
          <p:cNvPr id="5" name="Text 2"/>
          <p:cNvSpPr/>
          <p:nvPr/>
        </p:nvSpPr>
        <p:spPr>
          <a:xfrm>
            <a:off x="5233360" y="3058616"/>
            <a:ext cx="629686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An intelligent, outbreak-aware public health supply chain platform — an automated logistical nervous system for India's public healthcare grid, connecting disease surveillance, satellite climate early warnings, AI-driven consumption forecasting, and peer-to-peer inter-facility drug redistribution.</a:t>
            </a:r>
            <a:endParaRPr lang="en-US" sz="1300" dirty="0"/>
          </a:p>
        </p:txBody>
      </p:sp>
      <p:sp>
        <p:nvSpPr>
          <p:cNvPr id="6" name="Shape 3"/>
          <p:cNvSpPr/>
          <p:nvPr/>
        </p:nvSpPr>
        <p:spPr>
          <a:xfrm>
            <a:off x="5233360" y="4303117"/>
            <a:ext cx="5231178" cy="251420"/>
          </a:xfrm>
          <a:prstGeom prst="roundRect">
            <a:avLst>
              <a:gd name="adj" fmla="val 47364"/>
            </a:avLst>
          </a:prstGeom>
          <a:solidFill>
            <a:srgbClr val="CEE6FD"/>
          </a:solidFill>
          <a:ln/>
        </p:spPr>
        <p:txBody>
          <a:bodyPr/>
          <a:p/>
        </p:txBody>
      </p:sp>
      <p:sp>
        <p:nvSpPr>
          <p:cNvPr id="7" name="Text 4"/>
          <p:cNvSpPr/>
          <p:nvPr/>
        </p:nvSpPr>
        <p:spPr>
          <a:xfrm>
            <a:off x="5332577" y="4352727"/>
            <a:ext cx="5642330" cy="152202"/>
          </a:xfrm>
          <a:prstGeom prst="rect">
            <a:avLst/>
          </a:prstGeom>
          <a:noFill/>
          <a:ln/>
        </p:spPr>
        <p:txBody>
          <a:bodyPr wrap="none" lIns="0" tIns="0" rIns="0" bIns="0" rtlCol="0" anchor="t"/>
          <a:lstStyle/>
          <a:p>
            <a:pPr algn="l" indent="0" marL="0">
              <a:lnSpc>
                <a:spcPct val="960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GOOGLE CLOUD BUILD WITH AI: CODE FOR COMMUNITIES — SECOND EDITION</a:t>
            </a:r>
            <a:endParaRPr lang="en-US" sz="1000" dirty="0"/>
          </a:p>
        </p:txBody>
      </p:sp>
      <p:sp>
        <p:nvSpPr>
          <p:cNvPr id="8" name="Shape 5"/>
          <p:cNvSpPr/>
          <p:nvPr/>
        </p:nvSpPr>
        <p:spPr>
          <a:xfrm>
            <a:off x="5233360" y="4637187"/>
            <a:ext cx="2862092" cy="251420"/>
          </a:xfrm>
          <a:prstGeom prst="roundRect">
            <a:avLst>
              <a:gd name="adj" fmla="val 47364"/>
            </a:avLst>
          </a:prstGeom>
          <a:noFill/>
          <a:ln w="6350">
            <a:solidFill>
              <a:srgbClr val="84C1FA"/>
            </a:solidFill>
            <a:prstDash val="solid"/>
          </a:ln>
        </p:spPr>
        <p:txBody>
          <a:bodyPr/>
          <a:p/>
        </p:txBody>
      </p:sp>
      <p:sp>
        <p:nvSpPr>
          <p:cNvPr id="9" name="Text 6"/>
          <p:cNvSpPr/>
          <p:nvPr/>
        </p:nvSpPr>
        <p:spPr>
          <a:xfrm>
            <a:off x="5332577" y="4686796"/>
            <a:ext cx="3273244" cy="152202"/>
          </a:xfrm>
          <a:prstGeom prst="rect">
            <a:avLst/>
          </a:prstGeom>
          <a:noFill/>
          <a:ln/>
        </p:spPr>
        <p:txBody>
          <a:bodyPr wrap="none" lIns="0" tIns="0" rIns="0" bIns="0" rtlCol="0" anchor="t"/>
          <a:lstStyle/>
          <a:p>
            <a:pPr algn="l" indent="0" marL="0">
              <a:lnSpc>
                <a:spcPct val="96000"/>
              </a:lnSpc>
              <a:buNone/>
            </a:pPr>
            <a:r>
              <a:t>DEVELOPED BY PRAKSHAL JAIN · HEALTHCARE AI · SUPPLY CHAIN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679549"/>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091C53"/>
                </a:solidFill>
                <a:latin typeface="Instrument Sans SemiBold" pitchFamily="34" charset="0"/>
                <a:ea typeface="Instrument Sans SemiBold" pitchFamily="34" charset="-122"/>
                <a:cs typeface="Instrument Sans SemiBold" pitchFamily="34" charset="-120"/>
              </a:rPr>
              <a:t>The Public Health Supply Chain Paradox</a:t>
            </a:r>
            <a:endParaRPr lang="en-US" sz="3250" dirty="0"/>
          </a:p>
        </p:txBody>
      </p:sp>
      <p:sp>
        <p:nvSpPr>
          <p:cNvPr id="3" name="Text 1"/>
          <p:cNvSpPr/>
          <p:nvPr/>
        </p:nvSpPr>
        <p:spPr>
          <a:xfrm>
            <a:off x="661475" y="1526977"/>
            <a:ext cx="10868745"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India operates one of the largest public healthcare facility networks on the planet — spanning Sub-Centres, Primary Health Centres (PHCs), Community Health Centres (CHCs), Sub-District Hospitals (SDHs), and District Hospitals (DHs). Despite heavy government expenditure under the National Health Mission (NHM), the public drug delivery mechanism suffers from a severe structural paradox: while millions of citizens arrive at clinics expecting treatment, the system is simultaneously haemorrhaging resources through expiry, disconnection, and logistical blindness.</a:t>
            </a:r>
            <a:endParaRPr lang="en-US" sz="1300" dirty="0"/>
          </a:p>
        </p:txBody>
      </p:sp>
      <p:sp>
        <p:nvSpPr>
          <p:cNvPr id="4" name="Shape 2"/>
          <p:cNvSpPr/>
          <p:nvPr/>
        </p:nvSpPr>
        <p:spPr>
          <a:xfrm>
            <a:off x="661475" y="3036094"/>
            <a:ext cx="5351725" cy="1488480"/>
          </a:xfrm>
          <a:prstGeom prst="roundRect">
            <a:avLst>
              <a:gd name="adj" fmla="val 10000"/>
            </a:avLst>
          </a:prstGeom>
          <a:solidFill>
            <a:srgbClr val="CEE6FD"/>
          </a:solidFill>
          <a:ln/>
        </p:spPr>
        <p:txBody>
          <a:bodyPr/>
          <a:p/>
        </p:txBody>
      </p:sp>
      <p:sp>
        <p:nvSpPr>
          <p:cNvPr id="5" name="Text 3"/>
          <p:cNvSpPr/>
          <p:nvPr/>
        </p:nvSpPr>
        <p:spPr>
          <a:xfrm>
            <a:off x="826769" y="3201392"/>
            <a:ext cx="5021137" cy="264815"/>
          </a:xfrm>
          <a:prstGeom prst="rect">
            <a:avLst/>
          </a:prstGeom>
          <a:noFill/>
          <a:ln/>
        </p:spPr>
        <p:txBody>
          <a:bodyPr wrap="none" lIns="0" tIns="0" rIns="0" bIns="0" rtlCol="0" anchor="t"/>
          <a:lstStyle/>
          <a:p>
            <a:pPr algn="l" indent="0" marL="0">
              <a:lnSpc>
                <a:spcPct val="104000"/>
              </a:lnSpc>
              <a:buNone/>
            </a:pPr>
            <a:r>
              <a:rPr lang="en-US" sz="160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600" dirty="0">
                <a:solidFill>
                  <a:srgbClr val="1E3063"/>
                </a:solidFill>
                <a:latin typeface="Instrument Sans SemiBold" pitchFamily="34" charset="0"/>
                <a:ea typeface="Instrument Sans SemiBold" pitchFamily="34" charset="-122"/>
                <a:cs typeface="Instrument Sans SemiBold" pitchFamily="34" charset="-120"/>
              </a:rPr>
              <a:t> Acute Stock-Outs</a:t>
            </a:r>
            <a:endParaRPr lang="en-US" sz="1600" dirty="0"/>
          </a:p>
        </p:txBody>
      </p:sp>
      <p:sp>
        <p:nvSpPr>
          <p:cNvPr id="6" name="Text 4"/>
          <p:cNvSpPr/>
          <p:nvPr/>
        </p:nvSpPr>
        <p:spPr>
          <a:xfrm>
            <a:off x="826769" y="3565426"/>
            <a:ext cx="502113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Rural PHCs regularly face zero-inventory situations for vital antibiotics, IV fluids, and anti-diabetics — forcing patients into catastrophic out-of-pocket expenditure.</a:t>
            </a:r>
            <a:endParaRPr lang="en-US" sz="1300" dirty="0"/>
          </a:p>
        </p:txBody>
      </p:sp>
      <p:sp>
        <p:nvSpPr>
          <p:cNvPr id="7" name="Shape 5"/>
          <p:cNvSpPr/>
          <p:nvPr/>
        </p:nvSpPr>
        <p:spPr>
          <a:xfrm>
            <a:off x="6178495" y="3036094"/>
            <a:ext cx="5351725" cy="1488480"/>
          </a:xfrm>
          <a:prstGeom prst="roundRect">
            <a:avLst>
              <a:gd name="adj" fmla="val 10000"/>
            </a:avLst>
          </a:prstGeom>
          <a:solidFill>
            <a:srgbClr val="CEE6FD"/>
          </a:solidFill>
          <a:ln/>
        </p:spPr>
        <p:txBody>
          <a:bodyPr/>
          <a:p/>
        </p:txBody>
      </p:sp>
      <p:sp>
        <p:nvSpPr>
          <p:cNvPr id="8" name="Text 6"/>
          <p:cNvSpPr/>
          <p:nvPr/>
        </p:nvSpPr>
        <p:spPr>
          <a:xfrm>
            <a:off x="6343789" y="3201392"/>
            <a:ext cx="5021137" cy="264815"/>
          </a:xfrm>
          <a:prstGeom prst="rect">
            <a:avLst/>
          </a:prstGeom>
          <a:noFill/>
          <a:ln/>
        </p:spPr>
        <p:txBody>
          <a:bodyPr wrap="none" lIns="0" tIns="0" rIns="0" bIns="0" rtlCol="0" anchor="t"/>
          <a:lstStyle/>
          <a:p>
            <a:pPr algn="l" indent="0" marL="0">
              <a:lnSpc>
                <a:spcPct val="104000"/>
              </a:lnSpc>
              <a:buNone/>
            </a:pPr>
            <a:r>
              <a:rPr lang="en-US" sz="160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600" dirty="0">
                <a:solidFill>
                  <a:srgbClr val="1E3063"/>
                </a:solidFill>
                <a:latin typeface="Instrument Sans SemiBold" pitchFamily="34" charset="0"/>
                <a:ea typeface="Instrument Sans SemiBold" pitchFamily="34" charset="-122"/>
                <a:cs typeface="Instrument Sans SemiBold" pitchFamily="34" charset="-120"/>
              </a:rPr>
              <a:t> Out-of-Pocket Burden</a:t>
            </a:r>
            <a:endParaRPr lang="en-US" sz="1600" dirty="0"/>
          </a:p>
        </p:txBody>
      </p:sp>
      <p:sp>
        <p:nvSpPr>
          <p:cNvPr id="9" name="Text 7"/>
          <p:cNvSpPr/>
          <p:nvPr/>
        </p:nvSpPr>
        <p:spPr>
          <a:xfrm>
            <a:off x="6343789" y="3565426"/>
            <a:ext cx="502113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OOPE on medicines accounts for </a:t>
            </a:r>
            <a:pPr algn="l" indent="0" marL="0">
              <a:lnSpc>
                <a:spcPct val="133000"/>
              </a:lnSpc>
              <a:buNone/>
            </a:pPr>
            <a:r>
              <a:rPr lang="en-US" sz="1300" b="1" dirty="0">
                <a:solidFill>
                  <a:srgbClr val="1E3063"/>
                </a:solidFill>
                <a:latin typeface="Instrument Sans Bold" pitchFamily="34" charset="0"/>
                <a:ea typeface="Instrument Sans Bold" pitchFamily="34" charset="-122"/>
                <a:cs typeface="Instrument Sans Bold" pitchFamily="34" charset="-120"/>
              </a:rPr>
              <a:t>60–70%</a:t>
            </a:r>
            <a:pPr algn="l" indent="0" marL="0">
              <a:lnSpc>
                <a:spcPct val="1330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 of total personal healthcare spending in India, pushing millions of vulnerable families below the poverty line every year.</a:t>
            </a:r>
            <a:endParaRPr lang="en-US" sz="1300" dirty="0"/>
          </a:p>
        </p:txBody>
      </p:sp>
      <p:sp>
        <p:nvSpPr>
          <p:cNvPr id="10" name="Shape 8"/>
          <p:cNvSpPr/>
          <p:nvPr/>
        </p:nvSpPr>
        <p:spPr>
          <a:xfrm>
            <a:off x="661475" y="4689872"/>
            <a:ext cx="5351725" cy="1488480"/>
          </a:xfrm>
          <a:prstGeom prst="roundRect">
            <a:avLst>
              <a:gd name="adj" fmla="val 10000"/>
            </a:avLst>
          </a:prstGeom>
          <a:solidFill>
            <a:srgbClr val="CEE6FD"/>
          </a:solidFill>
          <a:ln/>
        </p:spPr>
        <p:txBody>
          <a:bodyPr/>
          <a:p/>
        </p:txBody>
      </p:sp>
      <p:sp>
        <p:nvSpPr>
          <p:cNvPr id="11" name="Text 9"/>
          <p:cNvSpPr/>
          <p:nvPr/>
        </p:nvSpPr>
        <p:spPr>
          <a:xfrm>
            <a:off x="826769" y="4855170"/>
            <a:ext cx="5021137" cy="264815"/>
          </a:xfrm>
          <a:prstGeom prst="rect">
            <a:avLst/>
          </a:prstGeom>
          <a:noFill/>
          <a:ln/>
        </p:spPr>
        <p:txBody>
          <a:bodyPr wrap="none" lIns="0" tIns="0" rIns="0" bIns="0" rtlCol="0" anchor="t"/>
          <a:lstStyle/>
          <a:p>
            <a:pPr algn="l" indent="0" marL="0">
              <a:lnSpc>
                <a:spcPct val="104000"/>
              </a:lnSpc>
              <a:buNone/>
            </a:pPr>
            <a:r>
              <a:rPr lang="en-US" sz="160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600" dirty="0">
                <a:solidFill>
                  <a:srgbClr val="1E3063"/>
                </a:solidFill>
                <a:latin typeface="Instrument Sans SemiBold" pitchFamily="34" charset="0"/>
                <a:ea typeface="Instrument Sans SemiBold" pitchFamily="34" charset="-122"/>
                <a:cs typeface="Instrument Sans SemiBold" pitchFamily="34" charset="-120"/>
              </a:rPr>
              <a:t> Massive Drug Wastage</a:t>
            </a:r>
            <a:endParaRPr lang="en-US" sz="1600" dirty="0"/>
          </a:p>
        </p:txBody>
      </p:sp>
      <p:sp>
        <p:nvSpPr>
          <p:cNvPr id="12" name="Text 10"/>
          <p:cNvSpPr/>
          <p:nvPr/>
        </p:nvSpPr>
        <p:spPr>
          <a:xfrm>
            <a:off x="826769" y="5219204"/>
            <a:ext cx="502113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CAG audits document </a:t>
            </a:r>
            <a:pPr algn="l" indent="0" marL="0">
              <a:lnSpc>
                <a:spcPct val="133000"/>
              </a:lnSpc>
              <a:buNone/>
            </a:pPr>
            <a:r>
              <a:rPr lang="en-US" sz="1300" b="1" dirty="0">
                <a:solidFill>
                  <a:srgbClr val="1E3063"/>
                </a:solidFill>
                <a:latin typeface="Instrument Sans Bold" pitchFamily="34" charset="0"/>
                <a:ea typeface="Instrument Sans Bold" pitchFamily="34" charset="-122"/>
                <a:cs typeface="Instrument Sans Bold" pitchFamily="34" charset="-120"/>
              </a:rPr>
              <a:t>₹6.57 crore</a:t>
            </a:r>
            <a:pPr algn="l" indent="0" marL="0">
              <a:lnSpc>
                <a:spcPct val="1330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 of expired medicines in a single state's warehouses — while peripheral clinics go without the same drugs.</a:t>
            </a:r>
            <a:endParaRPr lang="en-US" sz="1300" dirty="0"/>
          </a:p>
        </p:txBody>
      </p:sp>
      <p:sp>
        <p:nvSpPr>
          <p:cNvPr id="13" name="Shape 11"/>
          <p:cNvSpPr/>
          <p:nvPr/>
        </p:nvSpPr>
        <p:spPr>
          <a:xfrm>
            <a:off x="6178495" y="4689872"/>
            <a:ext cx="5351725" cy="1488480"/>
          </a:xfrm>
          <a:prstGeom prst="roundRect">
            <a:avLst>
              <a:gd name="adj" fmla="val 10000"/>
            </a:avLst>
          </a:prstGeom>
          <a:solidFill>
            <a:srgbClr val="CEE6FD"/>
          </a:solidFill>
          <a:ln/>
        </p:spPr>
        <p:txBody>
          <a:bodyPr/>
          <a:p/>
        </p:txBody>
      </p:sp>
      <p:sp>
        <p:nvSpPr>
          <p:cNvPr id="14" name="Text 12"/>
          <p:cNvSpPr/>
          <p:nvPr/>
        </p:nvSpPr>
        <p:spPr>
          <a:xfrm>
            <a:off x="6343789" y="4855170"/>
            <a:ext cx="5021137" cy="264815"/>
          </a:xfrm>
          <a:prstGeom prst="rect">
            <a:avLst/>
          </a:prstGeom>
          <a:noFill/>
          <a:ln/>
        </p:spPr>
        <p:txBody>
          <a:bodyPr wrap="none" lIns="0" tIns="0" rIns="0" bIns="0" rtlCol="0" anchor="t"/>
          <a:lstStyle/>
          <a:p>
            <a:pPr algn="l" indent="0" marL="0">
              <a:lnSpc>
                <a:spcPct val="104000"/>
              </a:lnSpc>
              <a:buNone/>
            </a:pPr>
            <a:r>
              <a:rPr lang="en-US" sz="160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600" dirty="0">
                <a:solidFill>
                  <a:srgbClr val="1E3063"/>
                </a:solidFill>
                <a:latin typeface="Instrument Sans SemiBold" pitchFamily="34" charset="0"/>
                <a:ea typeface="Instrument Sans SemiBold" pitchFamily="34" charset="-122"/>
                <a:cs typeface="Instrument Sans SemiBold" pitchFamily="34" charset="-120"/>
              </a:rPr>
              <a:t> Surveillance–Supply Disconnect</a:t>
            </a:r>
            <a:endParaRPr lang="en-US" sz="1600" dirty="0"/>
          </a:p>
        </p:txBody>
      </p:sp>
      <p:sp>
        <p:nvSpPr>
          <p:cNvPr id="15" name="Text 13"/>
          <p:cNvSpPr/>
          <p:nvPr/>
        </p:nvSpPr>
        <p:spPr>
          <a:xfrm>
            <a:off x="6343789" y="5219204"/>
            <a:ext cx="502113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IDSP disease data never talks to the drug inventory system. Procurement runs on rigid quarterly averages — completely blind to real-time clinical surges.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689868"/>
            <a:ext cx="10868745" cy="395684"/>
          </a:xfrm>
          <a:prstGeom prst="rect">
            <a:avLst/>
          </a:prstGeom>
          <a:noFill/>
          <a:ln/>
        </p:spPr>
        <p:txBody>
          <a:bodyPr wrap="none" lIns="0" tIns="0" rIns="0" bIns="0" rtlCol="0" anchor="t"/>
          <a:lstStyle/>
          <a:p>
            <a:pPr algn="l" indent="0" marL="0">
              <a:lnSpc>
                <a:spcPct val="104000"/>
              </a:lnSpc>
              <a:buNone/>
            </a:pPr>
            <a:r>
              <a:rPr lang="en-US" sz="2450" dirty="0">
                <a:solidFill>
                  <a:srgbClr val="091C53"/>
                </a:solidFill>
                <a:latin typeface="Instrument Sans SemiBold" pitchFamily="34" charset="0"/>
                <a:ea typeface="Instrument Sans SemiBold" pitchFamily="34" charset="-122"/>
                <a:cs typeface="Instrument Sans SemiBold" pitchFamily="34" charset="-120"/>
              </a:rPr>
              <a:t>Five Critical System Failures — In Detail</a:t>
            </a:r>
            <a:endParaRPr lang="en-US" sz="2450" dirty="0"/>
          </a:p>
        </p:txBody>
      </p:sp>
      <p:sp>
        <p:nvSpPr>
          <p:cNvPr id="3" name="Text 1"/>
          <p:cNvSpPr/>
          <p:nvPr/>
        </p:nvSpPr>
        <p:spPr>
          <a:xfrm>
            <a:off x="661475" y="1279426"/>
            <a:ext cx="10868745" cy="357584"/>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Each failure point is not an isolated incident — they are interconnected symptoms of a supply chain that operates without real-time intelligence, predictive capability, or inter-facility coordination. Together, they create a system where patients suffer, money is wasted, and lives are lost unnecessarily.</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746052"/>
            <a:ext cx="3558292" cy="2162572"/>
          </a:xfrm>
          <a:prstGeom prst="rect">
            <a:avLst/>
          </a:prstGeom>
        </p:spPr>
      </p:pic>
      <p:sp>
        <p:nvSpPr>
          <p:cNvPr id="5" name="Text 2"/>
          <p:cNvSpPr/>
          <p:nvPr/>
        </p:nvSpPr>
        <p:spPr>
          <a:xfrm>
            <a:off x="851573" y="1885355"/>
            <a:ext cx="3228894" cy="197743"/>
          </a:xfrm>
          <a:prstGeom prst="rect">
            <a:avLst/>
          </a:prstGeom>
          <a:noFill/>
          <a:ln/>
        </p:spPr>
        <p:txBody>
          <a:bodyPr wrap="none" lIns="0" tIns="0" rIns="0" bIns="0" rtlCol="0" anchor="t"/>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Problem 1: Acute Peripheral Stock-Outs</a:t>
            </a:r>
            <a:endParaRPr lang="en-US" sz="1200" dirty="0"/>
          </a:p>
        </p:txBody>
      </p:sp>
      <p:sp>
        <p:nvSpPr>
          <p:cNvPr id="6" name="Text 3"/>
          <p:cNvSpPr/>
          <p:nvPr/>
        </p:nvSpPr>
        <p:spPr>
          <a:xfrm>
            <a:off x="851573" y="2141240"/>
            <a:ext cx="3228894" cy="1430338"/>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Rural and semi-urban PHCs regularly face zero-inventory situations for vital antibiotics (Amoxicillin), IV fluids (Ringer Lactate, Normal Saline), anti-diabetics (Metformin), and anti-hypertensives. When a PHC runs out, poor and rural patients are forced to visit private retail chemists. In many cases, patients simply skip chronic medications — leading to avoidable complications and hospitalisations.</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16701" y="1746052"/>
            <a:ext cx="3558292" cy="2162572"/>
          </a:xfrm>
          <a:prstGeom prst="rect">
            <a:avLst/>
          </a:prstGeom>
        </p:spPr>
      </p:pic>
      <p:sp>
        <p:nvSpPr>
          <p:cNvPr id="8" name="Text 4"/>
          <p:cNvSpPr/>
          <p:nvPr/>
        </p:nvSpPr>
        <p:spPr>
          <a:xfrm>
            <a:off x="4506800" y="1885355"/>
            <a:ext cx="3228894" cy="395486"/>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Problem 2: Massive Drug Wastage in Central Warehouses</a:t>
            </a:r>
            <a:endParaRPr lang="en-US" sz="1200" dirty="0"/>
          </a:p>
        </p:txBody>
      </p:sp>
      <p:sp>
        <p:nvSpPr>
          <p:cNvPr id="9" name="Text 5"/>
          <p:cNvSpPr/>
          <p:nvPr/>
        </p:nvSpPr>
        <p:spPr>
          <a:xfrm>
            <a:off x="4506800" y="2338983"/>
            <a:ext cx="3228894" cy="1430338"/>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At the exact moment peripheral clinics face shortages, CAG audits document crores of rupees worth of medicines expiring unused in district medical stores. Medicines expire because facilities receive bulk supplies without considering local consumption rates, older batches are pushed to the back of shelves instead of following FEFO protocols, and there is no automated trigger to alert administrators before expiry.</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71928" y="1746052"/>
            <a:ext cx="3558292" cy="2162572"/>
          </a:xfrm>
          <a:prstGeom prst="rect">
            <a:avLst/>
          </a:prstGeom>
        </p:spPr>
      </p:pic>
      <p:sp>
        <p:nvSpPr>
          <p:cNvPr id="11" name="Text 6"/>
          <p:cNvSpPr/>
          <p:nvPr/>
        </p:nvSpPr>
        <p:spPr>
          <a:xfrm>
            <a:off x="8162026" y="1885355"/>
            <a:ext cx="3228894" cy="395486"/>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Problem 3: The Surveillance–Supply Disconnect</a:t>
            </a:r>
            <a:endParaRPr lang="en-US" sz="1200" dirty="0"/>
          </a:p>
        </p:txBody>
      </p:sp>
      <p:sp>
        <p:nvSpPr>
          <p:cNvPr id="12" name="Text 7"/>
          <p:cNvSpPr/>
          <p:nvPr/>
        </p:nvSpPr>
        <p:spPr>
          <a:xfrm>
            <a:off x="8162026" y="2338983"/>
            <a:ext cx="3228894" cy="1430338"/>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India's IDSP and IHIP platforms compile weekly syndromic disease reports every Monday. However, this disease data never communicates with the drug inventory system. If an unseasonal monsoon triggers a sudden Dengue wave in Taluk North, local PHCs run out of IV fluids and ORS within 48–72 hours — the supply system has no mechanism to react to real-time clinical surges.</a:t>
            </a:r>
            <a:endParaRPr lang="en-US" sz="9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005560"/>
            <a:ext cx="3558292" cy="2162572"/>
          </a:xfrm>
          <a:prstGeom prst="rect">
            <a:avLst/>
          </a:prstGeom>
        </p:spPr>
      </p:pic>
      <p:sp>
        <p:nvSpPr>
          <p:cNvPr id="14" name="Text 8"/>
          <p:cNvSpPr/>
          <p:nvPr/>
        </p:nvSpPr>
        <p:spPr>
          <a:xfrm>
            <a:off x="851573" y="4144863"/>
            <a:ext cx="3228894" cy="395486"/>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Problem 4: Logistical Blind Spots &amp; No Inter-Facility Sharing</a:t>
            </a:r>
            <a:endParaRPr lang="en-US" sz="1200" dirty="0"/>
          </a:p>
        </p:txBody>
      </p:sp>
      <p:sp>
        <p:nvSpPr>
          <p:cNvPr id="15" name="Text 9"/>
          <p:cNvSpPr/>
          <p:nvPr/>
        </p:nvSpPr>
        <p:spPr>
          <a:xfrm>
            <a:off x="851573" y="4598491"/>
            <a:ext cx="3228894" cy="1430338"/>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PHC A has 2 days of Paracetamol left during a viral fever outbreak. PHC B, just 14 km away, holds 1,200 bottles of IV fluids expiring in 45 days — 800 of which will expire and be destroyed. Currently, there is no automated, regulatory-compliant digital system to connect them. Health officers have zero visibility into peer inventories, and pharmacists have no legal or digital mechanism to authorise a peer-to-peer transfer.</a:t>
            </a:r>
            <a:endParaRPr lang="en-US" sz="9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16701" y="4005560"/>
            <a:ext cx="3558292" cy="2162572"/>
          </a:xfrm>
          <a:prstGeom prst="rect">
            <a:avLst/>
          </a:prstGeom>
        </p:spPr>
      </p:pic>
      <p:sp>
        <p:nvSpPr>
          <p:cNvPr id="17" name="Text 10"/>
          <p:cNvSpPr/>
          <p:nvPr/>
        </p:nvSpPr>
        <p:spPr>
          <a:xfrm>
            <a:off x="4506800" y="4144863"/>
            <a:ext cx="3228894" cy="395486"/>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Problem 5: Manual Data Entry Burden on Rural Pharmacists</a:t>
            </a:r>
            <a:endParaRPr lang="en-US" sz="1200" dirty="0"/>
          </a:p>
        </p:txBody>
      </p:sp>
      <p:sp>
        <p:nvSpPr>
          <p:cNvPr id="18" name="Text 11"/>
          <p:cNvSpPr/>
          <p:nvPr/>
        </p:nvSpPr>
        <p:spPr>
          <a:xfrm>
            <a:off x="4506800" y="4598491"/>
            <a:ext cx="3228894" cy="1430338"/>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Rural pharmacists manage patient dispensing, physical stock registries, and paper registers simultaneously. Expecting them to manually type 15-digit alphanumeric batch numbers, manufacturing dates, and expiry dates for hundreds of cartons into a slow web portal leads to non-compliance, backdated logs, and missing inventory records — undermining the entire data pipeline.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091C53"/>
                </a:solidFill>
                <a:latin typeface="Instrument Sans SemiBold" pitchFamily="34" charset="0"/>
                <a:ea typeface="Instrument Sans SemiBold" pitchFamily="34" charset="-122"/>
                <a:cs typeface="Instrument Sans SemiBold" pitchFamily="34" charset="-120"/>
              </a:rPr>
              <a:t>Aushadh Setu: The Closed-Loop Intelligence Grid</a:t>
            </a:r>
            <a:endParaRPr lang="en-US" sz="1600" dirty="0"/>
          </a:p>
        </p:txBody>
      </p:sp>
      <p:sp>
        <p:nvSpPr>
          <p:cNvPr id="3" name="Text 1"/>
          <p:cNvSpPr/>
          <p:nvPr/>
        </p:nvSpPr>
        <p:spPr>
          <a:xfrm>
            <a:off x="661475" y="795933"/>
            <a:ext cx="10868745"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1E3063"/>
                </a:solidFill>
                <a:latin typeface="Instrument Sans Medium" pitchFamily="34" charset="0"/>
                <a:ea typeface="Instrument Sans Medium" pitchFamily="34" charset="-122"/>
                <a:cs typeface="Instrument Sans Medium" pitchFamily="34" charset="-120"/>
              </a:rPr>
              <a:t>Aushadh Setu bridges every one of these gaps through an end-to-end, closed-loop system that treats medicine distribution as a </a:t>
            </a:r>
            <a:pPr algn="l" indent="0" marL="0">
              <a:lnSpc>
                <a:spcPct val="100000"/>
              </a:lnSpc>
              <a:buNone/>
            </a:pPr>
            <a:r>
              <a:rPr lang="en-US" sz="650" b="1" dirty="0">
                <a:solidFill>
                  <a:srgbClr val="1E3063"/>
                </a:solidFill>
                <a:latin typeface="Instrument Sans Bold" pitchFamily="34" charset="0"/>
                <a:ea typeface="Instrument Sans Bold" pitchFamily="34" charset="-122"/>
                <a:cs typeface="Instrument Sans Bold" pitchFamily="34" charset="-120"/>
              </a:rPr>
              <a:t>living, dynamic, predictive network</a:t>
            </a:r>
            <a:pPr algn="l" indent="0" marL="0">
              <a:lnSpc>
                <a:spcPct val="100000"/>
              </a:lnSpc>
              <a:buNone/>
            </a:pPr>
            <a:r>
              <a:rPr lang="en-US" sz="650" dirty="0">
                <a:solidFill>
                  <a:srgbClr val="1E3063"/>
                </a:solidFill>
                <a:latin typeface="Instrument Sans Medium" pitchFamily="34" charset="0"/>
                <a:ea typeface="Instrument Sans Medium" pitchFamily="34" charset="-122"/>
                <a:cs typeface="Instrument Sans Medium" pitchFamily="34" charset="-120"/>
              </a:rPr>
              <a:t> — not a static, bureaucratic, once-a-quarter order form. It anticipates drug shortages 2 to 3 weeks before they happen, identifies which nearby facilities have expiring surpluses of the exact medicines needed, and coordinates authorised transfers before stocks run out or expire.</a:t>
            </a:r>
            <a:endParaRPr lang="en-US" sz="650" dirty="0"/>
          </a:p>
        </p:txBody>
      </p:sp>
      <p:pic>
        <p:nvPicPr>
          <p:cNvPr id="4" name="Image 0" descr="preencoded.png">    </p:cNvPr>
          <p:cNvPicPr>
            <a:picLocks noChangeAspect="1"/>
          </p:cNvPicPr>
          <p:nvPr/>
        </p:nvPicPr>
        <p:blipFill>
          <a:blip r:embed="rId1"/>
          <a:stretch>
            <a:fillRect/>
          </a:stretch>
        </p:blipFill>
        <p:spPr>
          <a:xfrm>
            <a:off x="661475" y="1040606"/>
            <a:ext cx="9753356" cy="5486400"/>
          </a:xfrm>
          <a:prstGeom prst="rect">
            <a:avLst/>
          </a:prstGeom>
        </p:spPr>
      </p:pic>
      <p:sp>
        <p:nvSpPr>
          <p:cNvPr id="5" name="Text 2"/>
          <p:cNvSpPr/>
          <p:nvPr/>
        </p:nvSpPr>
        <p:spPr>
          <a:xfrm>
            <a:off x="661475" y="6573441"/>
            <a:ext cx="10868745"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1E3063"/>
                </a:solidFill>
                <a:latin typeface="Instrument Sans Medium" pitchFamily="34" charset="0"/>
                <a:ea typeface="Instrument Sans Medium" pitchFamily="34" charset="-122"/>
                <a:cs typeface="Instrument Sans Medium" pitchFamily="34" charset="-120"/>
              </a:rPr>
              <a:t>This closed-loop architecture ensures that no signal — whether an environmental precursor, a disease surveillance spike, or an expiring batch — is ever disconnected from the supply response mechanism. Every stage feeds the next, creating a self-reinforcing system of continuous intelligence and action.</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10977"/>
            <a:ext cx="10868745" cy="1017389"/>
          </a:xfrm>
          <a:prstGeom prst="rect">
            <a:avLst/>
          </a:prstGeom>
          <a:noFill/>
          <a:ln/>
        </p:spPr>
        <p:txBody>
          <a:bodyPr wrap="square" lIns="0" tIns="0" rIns="0" bIns="0" rtlCol="0" anchor="t">
            <a:normAutofit/>
          </a:bodyPr>
          <a:lstStyle/>
          <a:p>
            <a:pPr algn="l" indent="0" marL="0">
              <a:lnSpc>
                <a:spcPct val="104000"/>
              </a:lnSpc>
              <a:buNone/>
            </a:pPr>
            <a:r>
              <a:rPr lang="en-US" sz="3200" dirty="0">
                <a:solidFill>
                  <a:srgbClr val="091C53"/>
                </a:solidFill>
                <a:latin typeface="Instrument Sans SemiBold" pitchFamily="34" charset="0"/>
                <a:ea typeface="Instrument Sans SemiBold" pitchFamily="34" charset="-122"/>
                <a:cs typeface="Instrument Sans SemiBold" pitchFamily="34" charset="-120"/>
              </a:rPr>
              <a:t>Frictionless AI Stock Logging &amp; Inventory Ingestion</a:t>
            </a:r>
            <a:endParaRPr lang="en-US" sz="3200" dirty="0"/>
          </a:p>
        </p:txBody>
      </p:sp>
      <p:sp>
        <p:nvSpPr>
          <p:cNvPr id="3" name="Text 1"/>
          <p:cNvSpPr/>
          <p:nvPr/>
        </p:nvSpPr>
        <p:spPr>
          <a:xfrm>
            <a:off x="661475" y="1848842"/>
            <a:ext cx="10868745"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Designed specifically to eliminate the manual typing burden that causes non-compliance and missing inventory records at rural facilities. Aushadh Setu uses Google's Gemini 1.5 Flash multimodal vision capabilities to transform a simple smartphone photograph into a fully structured, verified inventory entry — in seconds, not minutes.</a:t>
            </a:r>
            <a:endParaRPr lang="en-US" sz="12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804517"/>
            <a:ext cx="406985" cy="406995"/>
          </a:xfrm>
          <a:prstGeom prst="rect">
            <a:avLst/>
          </a:prstGeom>
        </p:spPr>
      </p:pic>
      <p:sp>
        <p:nvSpPr>
          <p:cNvPr id="5" name="Text 2"/>
          <p:cNvSpPr/>
          <p:nvPr/>
        </p:nvSpPr>
        <p:spPr>
          <a:xfrm>
            <a:off x="661475" y="3411835"/>
            <a:ext cx="3489337" cy="254298"/>
          </a:xfrm>
          <a:prstGeom prst="rect">
            <a:avLst/>
          </a:prstGeom>
          <a:noFill/>
          <a:ln/>
        </p:spPr>
        <p:txBody>
          <a:bodyPr wrap="none" lIns="0" tIns="0" rIns="0" bIns="0" rtlCol="0" anchor="t"/>
          <a:lstStyle/>
          <a:p>
            <a:pPr algn="l" indent="0" marL="0">
              <a:lnSpc>
                <a:spcPct val="104000"/>
              </a:lnSpc>
              <a:buNone/>
            </a:pPr>
            <a:r>
              <a:rPr lang="en-US" sz="1600" dirty="0">
                <a:solidFill>
                  <a:srgbClr val="1E3063"/>
                </a:solidFill>
                <a:latin typeface="Instrument Sans SemiBold" pitchFamily="34" charset="0"/>
                <a:ea typeface="Instrument Sans SemiBold" pitchFamily="34" charset="-122"/>
                <a:cs typeface="Instrument Sans SemiBold" pitchFamily="34" charset="-120"/>
              </a:rPr>
              <a:t>Gemini 1.5 Flash Vision Scanner</a:t>
            </a:r>
            <a:endParaRPr lang="en-US" sz="1600" dirty="0"/>
          </a:p>
        </p:txBody>
      </p:sp>
      <p:sp>
        <p:nvSpPr>
          <p:cNvPr id="6" name="Text 3"/>
          <p:cNvSpPr/>
          <p:nvPr/>
        </p:nvSpPr>
        <p:spPr>
          <a:xfrm>
            <a:off x="661475" y="3762276"/>
            <a:ext cx="3489337" cy="2584648"/>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Pharmacists photograph an incoming medicine carton, box, or blister strip. The multimodal vision pipeline instantly parses the physical packaging and extracts </a:t>
            </a:r>
            <a:pPr algn="l" indent="0" marL="0">
              <a:lnSpc>
                <a:spcPct val="132000"/>
              </a:lnSpc>
              <a:buNone/>
            </a:pPr>
            <a:r>
              <a:rPr lang="en-US" sz="1250" b="1" dirty="0">
                <a:solidFill>
                  <a:srgbClr val="1E3063"/>
                </a:solidFill>
                <a:latin typeface="Instrument Sans Bold" pitchFamily="34" charset="0"/>
                <a:ea typeface="Instrument Sans Bold" pitchFamily="34" charset="-122"/>
                <a:cs typeface="Instrument Sans Bold" pitchFamily="34" charset="-120"/>
              </a:rPr>
              <a:t>9 key attributes</a:t>
            </a:r>
            <a:pPr algn="l" indent="0" marL="0">
              <a:lnSpc>
                <a:spcPct val="13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 Generic Name, Brand Name, Batch Number, Manufacturing Date, Expiry Date, Quantity &amp; Pack Type, Manufacturer Name, and Cold-Chain Requirement flag. Features an instant visual confirmation card for one-click ledger entry.</a:t>
            </a:r>
            <a:endParaRPr lang="en-US" sz="12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1129" y="2804517"/>
            <a:ext cx="406985" cy="406995"/>
          </a:xfrm>
          <a:prstGeom prst="rect">
            <a:avLst/>
          </a:prstGeom>
        </p:spPr>
      </p:pic>
      <p:sp>
        <p:nvSpPr>
          <p:cNvPr id="8" name="Text 4"/>
          <p:cNvSpPr/>
          <p:nvPr/>
        </p:nvSpPr>
        <p:spPr>
          <a:xfrm>
            <a:off x="4351129" y="3411835"/>
            <a:ext cx="3489337" cy="254298"/>
          </a:xfrm>
          <a:prstGeom prst="rect">
            <a:avLst/>
          </a:prstGeom>
          <a:noFill/>
          <a:ln/>
        </p:spPr>
        <p:txBody>
          <a:bodyPr wrap="none" lIns="0" tIns="0" rIns="0" bIns="0" rtlCol="0" anchor="t"/>
          <a:lstStyle/>
          <a:p>
            <a:pPr algn="l" indent="0" marL="0">
              <a:lnSpc>
                <a:spcPct val="104000"/>
              </a:lnSpc>
              <a:buNone/>
            </a:pPr>
            <a:r>
              <a:rPr lang="en-US" sz="1600" dirty="0">
                <a:solidFill>
                  <a:srgbClr val="1E3063"/>
                </a:solidFill>
                <a:latin typeface="Instrument Sans SemiBold" pitchFamily="34" charset="0"/>
                <a:ea typeface="Instrument Sans SemiBold" pitchFamily="34" charset="-122"/>
                <a:cs typeface="Instrument Sans SemiBold" pitchFamily="34" charset="-120"/>
              </a:rPr>
              <a:t>Offline-Resilient Architecture</a:t>
            </a:r>
            <a:endParaRPr lang="en-US" sz="1600" dirty="0"/>
          </a:p>
        </p:txBody>
      </p:sp>
      <p:sp>
        <p:nvSpPr>
          <p:cNvPr id="9" name="Text 5"/>
          <p:cNvSpPr/>
          <p:nvPr/>
        </p:nvSpPr>
        <p:spPr>
          <a:xfrm>
            <a:off x="4351129" y="3762276"/>
            <a:ext cx="3489337" cy="180925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Uses memory-based storage processing so image analysis runs without writing temporary files to server disks — preventing failures in serverless cloud environments. Built with high-fidelity realistic fallbacks so the scanner functions reliably even in poor connectivity conditions typical of rural India.</a:t>
            </a:r>
            <a:endParaRPr lang="en-US" sz="12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0784" y="2804517"/>
            <a:ext cx="406985" cy="406995"/>
          </a:xfrm>
          <a:prstGeom prst="rect">
            <a:avLst/>
          </a:prstGeom>
        </p:spPr>
      </p:pic>
      <p:sp>
        <p:nvSpPr>
          <p:cNvPr id="11" name="Text 6"/>
          <p:cNvSpPr/>
          <p:nvPr/>
        </p:nvSpPr>
        <p:spPr>
          <a:xfrm>
            <a:off x="8040784" y="3411835"/>
            <a:ext cx="3489436" cy="254298"/>
          </a:xfrm>
          <a:prstGeom prst="rect">
            <a:avLst/>
          </a:prstGeom>
          <a:noFill/>
          <a:ln/>
        </p:spPr>
        <p:txBody>
          <a:bodyPr wrap="none" lIns="0" tIns="0" rIns="0" bIns="0" rtlCol="0" anchor="t"/>
          <a:lstStyle/>
          <a:p>
            <a:pPr algn="l" indent="0" marL="0">
              <a:lnSpc>
                <a:spcPct val="104000"/>
              </a:lnSpc>
              <a:buNone/>
            </a:pPr>
            <a:r>
              <a:rPr lang="en-US" sz="1600" dirty="0">
                <a:solidFill>
                  <a:srgbClr val="1E3063"/>
                </a:solidFill>
                <a:latin typeface="Instrument Sans SemiBold" pitchFamily="34" charset="0"/>
                <a:ea typeface="Instrument Sans SemiBold" pitchFamily="34" charset="-122"/>
                <a:cs typeface="Instrument Sans SemiBold" pitchFamily="34" charset="-120"/>
              </a:rPr>
              <a:t>Vernacular Voice Logging Simulator</a:t>
            </a:r>
            <a:endParaRPr lang="en-US" sz="1600" dirty="0"/>
          </a:p>
        </p:txBody>
      </p:sp>
      <p:sp>
        <p:nvSpPr>
          <p:cNvPr id="12" name="Text 7"/>
          <p:cNvSpPr/>
          <p:nvPr/>
        </p:nvSpPr>
        <p:spPr>
          <a:xfrm>
            <a:off x="8040784" y="3762276"/>
            <a:ext cx="3489436" cy="180925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Pharmacists can simulate hands-free voice logging in local languages — for example, "Dispensed 60 packets of ORS and 30 strips of Paracetamol today" — drastically cutting administrative overhead and enabling truly zero-touch inventory management in the field.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05036"/>
            <a:ext cx="10868745" cy="920750"/>
          </a:xfrm>
          <a:prstGeom prst="rect">
            <a:avLst/>
          </a:prstGeom>
          <a:noFill/>
          <a:ln/>
        </p:spPr>
        <p:txBody>
          <a:bodyPr wrap="square" lIns="0" tIns="0" rIns="0" bIns="0" rtlCol="0" anchor="t">
            <a:normAutofit/>
          </a:bodyPr>
          <a:lstStyle/>
          <a:p>
            <a:pPr algn="l" indent="0" marL="0">
              <a:lnSpc>
                <a:spcPct val="104000"/>
              </a:lnSpc>
              <a:buNone/>
            </a:pPr>
            <a:r>
              <a:rPr lang="en-US" sz="2850" dirty="0">
                <a:solidFill>
                  <a:srgbClr val="091C53"/>
                </a:solidFill>
                <a:latin typeface="Instrument Sans SemiBold" pitchFamily="34" charset="0"/>
                <a:ea typeface="Instrument Sans SemiBold" pitchFamily="34" charset="-122"/>
                <a:cs typeface="Instrument Sans SemiBold" pitchFamily="34" charset="-120"/>
              </a:rPr>
              <a:t>Epidemic Surveillance, Climate Warning &amp; Predictive Intelligence</a:t>
            </a:r>
            <a:endParaRPr lang="en-US" sz="2850" dirty="0"/>
          </a:p>
        </p:txBody>
      </p:sp>
      <p:sp>
        <p:nvSpPr>
          <p:cNvPr id="3" name="Shape 1"/>
          <p:cNvSpPr/>
          <p:nvPr/>
        </p:nvSpPr>
        <p:spPr>
          <a:xfrm>
            <a:off x="555413" y="1722537"/>
            <a:ext cx="5466816" cy="4530328"/>
          </a:xfrm>
          <a:prstGeom prst="roundRect">
            <a:avLst>
              <a:gd name="adj" fmla="val 4682"/>
            </a:avLst>
          </a:prstGeom>
          <a:solidFill>
            <a:srgbClr val="000E21"/>
          </a:solidFill>
          <a:ln/>
        </p:spPr>
        <p:txBody>
          <a:bodyPr/>
          <a:p/>
        </p:txBody>
      </p:sp>
      <p:sp>
        <p:nvSpPr>
          <p:cNvPr id="4" name="Text 2"/>
          <p:cNvSpPr/>
          <p:nvPr/>
        </p:nvSpPr>
        <p:spPr>
          <a:xfrm>
            <a:off x="702650" y="1853704"/>
            <a:ext cx="5172342" cy="460375"/>
          </a:xfrm>
          <a:prstGeom prst="rect">
            <a:avLst/>
          </a:prstGeom>
          <a:noFill/>
          <a:ln/>
        </p:spPr>
        <p:txBody>
          <a:bodyPr wrap="square" lIns="0" tIns="0" rIns="0" bIns="0" rtlCol="0" anchor="t">
            <a:normAutofit/>
          </a:bodyPr>
          <a:lstStyle/>
          <a:p>
            <a:pPr algn="l" indent="0" marL="0">
              <a:lnSpc>
                <a:spcPct val="104000"/>
              </a:lnSpc>
              <a:buNone/>
            </a:pPr>
            <a:r>
              <a:rPr lang="en-US" sz="1400" dirty="0">
                <a:solidFill>
                  <a:srgbClr val="FFFFFF"/>
                </a:solidFill>
                <a:latin typeface="Instrument Sans SemiBold" pitchFamily="34" charset="0"/>
                <a:ea typeface="Instrument Sans SemiBold" pitchFamily="34" charset="-122"/>
                <a:cs typeface="Instrument Sans SemiBold" pitchFamily="34" charset="-120"/>
              </a:rPr>
              <a:t>Epidemiological Ingestion &amp; Climate Warning Grid</a:t>
            </a:r>
            <a:endParaRPr lang="en-US" sz="1400" dirty="0"/>
          </a:p>
        </p:txBody>
      </p:sp>
      <p:sp>
        <p:nvSpPr>
          <p:cNvPr id="5" name="Text 3"/>
          <p:cNvSpPr/>
          <p:nvPr/>
        </p:nvSpPr>
        <p:spPr>
          <a:xfrm>
            <a:off x="702650" y="2445246"/>
            <a:ext cx="5172342" cy="3578820"/>
          </a:xfrm>
          <a:prstGeom prst="rect">
            <a:avLst/>
          </a:prstGeom>
          <a:noFill/>
          <a:ln/>
        </p:spPr>
        <p:txBody>
          <a:bodyPr wrap="square" lIns="0" tIns="0" rIns="0" bIns="0" rtlCol="0" anchor="t">
            <a:normAutofit/>
          </a:bodyPr>
          <a:lstStyle/>
          <a:p>
            <a:pPr algn="l" indent="0" marL="0">
              <a:lnSpc>
                <a:spcPct val="126000"/>
              </a:lnSpc>
              <a:spcAft>
                <a:spcPts val="900"/>
              </a:spcAft>
              <a:buNone/>
            </a:pPr>
            <a:r>
              <a:rPr lang="en-US" sz="1150" b="1" dirty="0">
                <a:solidFill>
                  <a:srgbClr val="FFFFFF"/>
                </a:solidFill>
                <a:latin typeface="Instrument Sans Bold" pitchFamily="34" charset="0"/>
                <a:ea typeface="Instrument Sans Bold" pitchFamily="34" charset="-122"/>
                <a:cs typeface="Instrument Sans Bold" pitchFamily="34" charset="-120"/>
              </a:rPr>
              <a:t>Weekly IDSP Epidemiological Ingestion:</a:t>
            </a:r>
            <a:pPr algn="l" indent="0" marL="0">
              <a:lnSpc>
                <a:spcPct val="126000"/>
              </a:lnSpc>
              <a:spcAft>
                <a:spcPts val="900"/>
              </a:spcAft>
              <a:buNone/>
            </a:pPr>
            <a:r>
              <a:rPr lang="en-US" sz="1150" dirty="0">
                <a:solidFill>
                  <a:srgbClr val="FFFFFF"/>
                </a:solidFill>
                <a:latin typeface="Instrument Sans Medium" pitchFamily="34" charset="0"/>
                <a:ea typeface="Instrument Sans Medium" pitchFamily="34" charset="-122"/>
                <a:cs typeface="Instrument Sans Medium" pitchFamily="34" charset="-120"/>
              </a:rPr>
              <a:t> Ingests weekly district disease surveillance data across key public health indicators — Acute Diarrhoeal Disease, Dengue &amp; Chikungunya, and Acute Respiratory Infections — tracking week-over-week trends and identifying anomalous surges above baseline thresholds.</a:t>
            </a:r>
            <a:endParaRPr lang="en-US" sz="1150" dirty="0"/>
          </a:p>
          <a:p>
            <a:pPr algn="l" indent="0" marL="0">
              <a:lnSpc>
                <a:spcPct val="126000"/>
              </a:lnSpc>
              <a:spcAft>
                <a:spcPts val="900"/>
              </a:spcAft>
              <a:buNone/>
            </a:pPr>
            <a:r>
              <a:rPr lang="en-US" sz="1150" b="1" dirty="0">
                <a:solidFill>
                  <a:srgbClr val="FFFFFF"/>
                </a:solidFill>
                <a:latin typeface="Instrument Sans Bold" pitchFamily="34" charset="0"/>
                <a:ea typeface="Instrument Sans Bold" pitchFamily="34" charset="-122"/>
                <a:cs typeface="Instrument Sans Bold" pitchFamily="34" charset="-120"/>
              </a:rPr>
              <a:t>Climate Vector Tracking (IMD Integration):</a:t>
            </a:r>
            <a:pPr algn="l" indent="0" marL="0">
              <a:lnSpc>
                <a:spcPct val="126000"/>
              </a:lnSpc>
              <a:spcAft>
                <a:spcPts val="900"/>
              </a:spcAft>
              <a:buNone/>
            </a:pPr>
            <a:r>
              <a:rPr lang="en-US" sz="1150" dirty="0">
                <a:solidFill>
                  <a:srgbClr val="FFFFFF"/>
                </a:solidFill>
                <a:latin typeface="Instrument Sans Medium" pitchFamily="34" charset="0"/>
                <a:ea typeface="Instrument Sans Medium" pitchFamily="34" charset="-122"/>
                <a:cs typeface="Instrument Sans Medium" pitchFamily="34" charset="-120"/>
              </a:rPr>
              <a:t> Monitors weekly rainfall anomaly percentages, temperature fluctuations, and humidity indexes. Provides a </a:t>
            </a:r>
            <a:pPr algn="l" indent="0" marL="0">
              <a:lnSpc>
                <a:spcPct val="126000"/>
              </a:lnSpc>
              <a:spcAft>
                <a:spcPts val="900"/>
              </a:spcAft>
              <a:buNone/>
            </a:pPr>
            <a:r>
              <a:rPr lang="en-US" sz="1150" b="1" dirty="0">
                <a:solidFill>
                  <a:srgbClr val="FFFFFF"/>
                </a:solidFill>
                <a:latin typeface="Instrument Sans Bold" pitchFamily="34" charset="0"/>
                <a:ea typeface="Instrument Sans Bold" pitchFamily="34" charset="-122"/>
                <a:cs typeface="Instrument Sans Bold" pitchFamily="34" charset="-120"/>
              </a:rPr>
              <a:t>14-day pre-surveillance early warning</a:t>
            </a:r>
            <a:pPr algn="l" indent="0" marL="0">
              <a:lnSpc>
                <a:spcPct val="126000"/>
              </a:lnSpc>
              <a:spcAft>
                <a:spcPts val="900"/>
              </a:spcAft>
              <a:buNone/>
            </a:pPr>
            <a:r>
              <a:rPr lang="en-US" sz="1150" dirty="0">
                <a:solidFill>
                  <a:srgbClr val="FFFFFF"/>
                </a:solidFill>
                <a:latin typeface="Instrument Sans Medium" pitchFamily="34" charset="0"/>
                <a:ea typeface="Instrument Sans Medium" pitchFamily="34" charset="-122"/>
                <a:cs typeface="Instrument Sans Medium" pitchFamily="34" charset="-120"/>
              </a:rPr>
              <a:t> — flagging high-risk mosquito breeding conditions weeks before patients arrive at outpatient departments.</a:t>
            </a:r>
            <a:endParaRPr lang="en-US" sz="1150" dirty="0"/>
          </a:p>
          <a:p>
            <a:pPr algn="l" indent="0" marL="0">
              <a:lnSpc>
                <a:spcPct val="126000"/>
              </a:lnSpc>
              <a:buNone/>
            </a:pPr>
            <a:r>
              <a:rPr lang="en-US" sz="1150" b="1" dirty="0">
                <a:solidFill>
                  <a:srgbClr val="FFFFFF"/>
                </a:solidFill>
                <a:latin typeface="Instrument Sans Bold" pitchFamily="34" charset="0"/>
                <a:ea typeface="Instrument Sans Bold" pitchFamily="34" charset="-122"/>
                <a:cs typeface="Instrument Sans Bold" pitchFamily="34" charset="-120"/>
              </a:rPr>
              <a:t>Syndromic-to-Drug Matrix (SDM):</a:t>
            </a:r>
            <a:pPr algn="l" indent="0" marL="0">
              <a:lnSpc>
                <a:spcPct val="126000"/>
              </a:lnSpc>
              <a:buNone/>
            </a:pPr>
            <a:r>
              <a:rPr lang="en-US" sz="1150" dirty="0">
                <a:solidFill>
                  <a:srgbClr val="FFFFFF"/>
                </a:solidFill>
                <a:latin typeface="Instrument Sans Medium" pitchFamily="34" charset="0"/>
                <a:ea typeface="Instrument Sans Medium" pitchFamily="34" charset="-122"/>
                <a:cs typeface="Instrument Sans Medium" pitchFamily="34" charset="-120"/>
              </a:rPr>
              <a:t> An algorithmic bridge mapping clinical syndromes directly to essential medicines — Dengue outbreak triggers demand multipliers for Paracetamol, IV Fluids, and ORS; Diarrhoeal surge triggers ORS, Zinc, and Ciprofloxacin; Respiratory wave triggers Amoxicillin and Azithromycin.</a:t>
            </a:r>
            <a:endParaRPr lang="en-US" sz="1150" dirty="0"/>
          </a:p>
        </p:txBody>
      </p:sp>
      <p:sp>
        <p:nvSpPr>
          <p:cNvPr id="6" name="Text 4"/>
          <p:cNvSpPr/>
          <p:nvPr/>
        </p:nvSpPr>
        <p:spPr>
          <a:xfrm>
            <a:off x="6281878" y="1853704"/>
            <a:ext cx="5254692" cy="230187"/>
          </a:xfrm>
          <a:prstGeom prst="rect">
            <a:avLst/>
          </a:prstGeom>
          <a:noFill/>
          <a:ln/>
        </p:spPr>
        <p:txBody>
          <a:bodyPr wrap="none" lIns="0" tIns="0" rIns="0" bIns="0" rtlCol="0" anchor="t"/>
          <a:lstStyle/>
          <a:p>
            <a:pPr algn="l" indent="0" marL="0">
              <a:lnSpc>
                <a:spcPct val="104000"/>
              </a:lnSpc>
              <a:buNone/>
            </a:pPr>
            <a:r>
              <a:rPr lang="en-US" sz="1400" dirty="0">
                <a:solidFill>
                  <a:srgbClr val="091C53"/>
                </a:solidFill>
                <a:latin typeface="Instrument Sans SemiBold" pitchFamily="34" charset="0"/>
                <a:ea typeface="Instrument Sans SemiBold" pitchFamily="34" charset="-122"/>
                <a:cs typeface="Instrument Sans SemiBold" pitchFamily="34" charset="-120"/>
              </a:rPr>
              <a:t>Dynamic Consumption Forecasting &amp; Dual-Risk Engine</a:t>
            </a:r>
            <a:endParaRPr lang="en-US" sz="1400" dirty="0"/>
          </a:p>
        </p:txBody>
      </p:sp>
      <p:sp>
        <p:nvSpPr>
          <p:cNvPr id="7" name="Text 5"/>
          <p:cNvSpPr/>
          <p:nvPr/>
        </p:nvSpPr>
        <p:spPr>
          <a:xfrm>
            <a:off x="6281878" y="2215059"/>
            <a:ext cx="5254692" cy="3919736"/>
          </a:xfrm>
          <a:prstGeom prst="rect">
            <a:avLst/>
          </a:prstGeom>
          <a:noFill/>
          <a:ln/>
        </p:spPr>
        <p:txBody>
          <a:bodyPr wrap="square" lIns="0" tIns="0" rIns="0" bIns="0" rtlCol="0" anchor="t">
            <a:normAutofit/>
          </a:bodyPr>
          <a:lstStyle/>
          <a:p>
            <a:pPr algn="l" indent="0" marL="0">
              <a:lnSpc>
                <a:spcPct val="126000"/>
              </a:lnSpc>
              <a:spcAft>
                <a:spcPts val="900"/>
              </a:spcAft>
              <a:buNone/>
            </a:pPr>
            <a:r>
              <a:rPr lang="en-US" sz="1150" b="1" dirty="0">
                <a:solidFill>
                  <a:srgbClr val="1E3063"/>
                </a:solidFill>
                <a:latin typeface="Instrument Sans Bold" pitchFamily="34" charset="0"/>
                <a:ea typeface="Instrument Sans Bold" pitchFamily="34" charset="-122"/>
                <a:cs typeface="Instrument Sans Bold" pitchFamily="34" charset="-120"/>
              </a:rPr>
              <a:t>Days of Stock Remaining (DSR):</a:t>
            </a:r>
            <a:pPr algn="l" indent="0" marL="0">
              <a:lnSpc>
                <a:spcPct val="126000"/>
              </a:lnSpc>
              <a:spcAft>
                <a:spcPts val="900"/>
              </a:spcAft>
              <a:buNone/>
            </a:pPr>
            <a:r>
              <a:rPr lang="en-US" sz="1150" dirty="0">
                <a:solidFill>
                  <a:srgbClr val="1E3063"/>
                </a:solidFill>
                <a:latin typeface="Instrument Sans Medium" pitchFamily="34" charset="0"/>
                <a:ea typeface="Instrument Sans Medium" pitchFamily="34" charset="-122"/>
                <a:cs typeface="Instrument Sans Medium" pitchFamily="34" charset="-120"/>
              </a:rPr>
              <a:t> Calculates real-time stock runway for every medicine across every facility: </a:t>
            </a:r>
            <a:pPr algn="l" indent="0" marL="0">
              <a:lnSpc>
                <a:spcPct val="126000"/>
              </a:lnSpc>
              <a:spcAft>
                <a:spcPts val="900"/>
              </a:spcAft>
              <a:buNone/>
            </a:pPr>
            <a:r>
              <a:rPr lang="en-US" sz="1150" b="1" dirty="0">
                <a:solidFill>
                  <a:srgbClr val="1E3063"/>
                </a:solidFill>
                <a:latin typeface="Instrument Sans Bold" pitchFamily="34" charset="0"/>
                <a:ea typeface="Instrument Sans Bold" pitchFamily="34" charset="-122"/>
                <a:cs typeface="Instrument Sans Bold" pitchFamily="34" charset="-120"/>
              </a:rPr>
              <a:t>DSR = Usable Physical Stock ÷ Projected Daily Consumption.</a:t>
            </a:r>
            <a:pPr algn="l" indent="0" marL="0">
              <a:lnSpc>
                <a:spcPct val="126000"/>
              </a:lnSpc>
              <a:spcAft>
                <a:spcPts val="900"/>
              </a:spcAft>
              <a:buNone/>
            </a:pPr>
            <a:r>
              <a:rPr lang="en-US" sz="1150" dirty="0">
                <a:solidFill>
                  <a:srgbClr val="1E3063"/>
                </a:solidFill>
                <a:latin typeface="Instrument Sans Medium" pitchFamily="34" charset="0"/>
                <a:ea typeface="Instrument Sans Medium" pitchFamily="34" charset="-122"/>
                <a:cs typeface="Instrument Sans Medium" pitchFamily="34" charset="-120"/>
              </a:rPr>
              <a:t> Categorises inventory into Green (7+ days), Amber (3–7 days), and Red (under 3 days — immediate replenishment required).</a:t>
            </a:r>
            <a:endParaRPr lang="en-US" sz="1150" dirty="0"/>
          </a:p>
          <a:p>
            <a:pPr algn="l" indent="0" marL="0">
              <a:lnSpc>
                <a:spcPct val="126000"/>
              </a:lnSpc>
              <a:spcAft>
                <a:spcPts val="900"/>
              </a:spcAft>
              <a:buNone/>
            </a:pPr>
            <a:r>
              <a:rPr lang="en-US" sz="1150" b="1" dirty="0">
                <a:solidFill>
                  <a:srgbClr val="1E3063"/>
                </a:solidFill>
                <a:latin typeface="Instrument Sans Bold" pitchFamily="34" charset="0"/>
                <a:ea typeface="Instrument Sans Bold" pitchFamily="34" charset="-122"/>
                <a:cs typeface="Instrument Sans Bold" pitchFamily="34" charset="-120"/>
              </a:rPr>
              <a:t>FEFO Expiry Hazard Scoring:</a:t>
            </a:r>
            <a:pPr algn="l" indent="0" marL="0">
              <a:lnSpc>
                <a:spcPct val="126000"/>
              </a:lnSpc>
              <a:spcAft>
                <a:spcPts val="900"/>
              </a:spcAft>
              <a:buNone/>
            </a:pPr>
            <a:r>
              <a:rPr lang="en-US" sz="1150" dirty="0">
                <a:solidFill>
                  <a:srgbClr val="1E3063"/>
                </a:solidFill>
                <a:latin typeface="Instrument Sans Medium" pitchFamily="34" charset="0"/>
                <a:ea typeface="Instrument Sans Medium" pitchFamily="34" charset="-122"/>
                <a:cs typeface="Instrument Sans Medium" pitchFamily="34" charset="-120"/>
              </a:rPr>
              <a:t> Evaluates every batch against remaining shelf life and local consumption rate. </a:t>
            </a:r>
            <a:pPr algn="l" indent="0" marL="0">
              <a:lnSpc>
                <a:spcPct val="126000"/>
              </a:lnSpc>
              <a:spcAft>
                <a:spcPts val="900"/>
              </a:spcAft>
              <a:buNone/>
            </a:pPr>
            <a:r>
              <a:rPr lang="en-US" sz="1150" b="1" dirty="0">
                <a:solidFill>
                  <a:srgbClr val="1E3063"/>
                </a:solidFill>
                <a:latin typeface="Instrument Sans Bold" pitchFamily="34" charset="0"/>
                <a:ea typeface="Instrument Sans Bold" pitchFamily="34" charset="-122"/>
                <a:cs typeface="Instrument Sans Bold" pitchFamily="34" charset="-120"/>
              </a:rPr>
              <a:t>Expiring Surplus = Batch Stock − (Days to Expiry × Daily Consumption).</a:t>
            </a:r>
            <a:pPr algn="l" indent="0" marL="0">
              <a:lnSpc>
                <a:spcPct val="126000"/>
              </a:lnSpc>
              <a:spcAft>
                <a:spcPts val="900"/>
              </a:spcAft>
              <a:buNone/>
            </a:pPr>
            <a:r>
              <a:rPr lang="en-US" sz="1150" dirty="0">
                <a:solidFill>
                  <a:srgbClr val="1E3063"/>
                </a:solidFill>
                <a:latin typeface="Instrument Sans Medium" pitchFamily="34" charset="0"/>
                <a:ea typeface="Instrument Sans Medium" pitchFamily="34" charset="-122"/>
                <a:cs typeface="Instrument Sans Medium" pitchFamily="34" charset="-120"/>
              </a:rPr>
              <a:t> If positive, the system flags it as an "Imminent Expiry Surplus" and queues it for outward transfer.</a:t>
            </a:r>
            <a:endParaRPr lang="en-US" sz="1150" dirty="0"/>
          </a:p>
          <a:p>
            <a:pPr algn="l" indent="0" marL="0">
              <a:lnSpc>
                <a:spcPct val="126000"/>
              </a:lnSpc>
              <a:spcAft>
                <a:spcPts val="900"/>
              </a:spcAft>
              <a:buNone/>
            </a:pPr>
            <a:r>
              <a:rPr lang="en-US" sz="1150" b="1" dirty="0">
                <a:solidFill>
                  <a:srgbClr val="1E3063"/>
                </a:solidFill>
                <a:latin typeface="Instrument Sans Bold" pitchFamily="34" charset="0"/>
                <a:ea typeface="Instrument Sans Bold" pitchFamily="34" charset="-122"/>
                <a:cs typeface="Instrument Sans Bold" pitchFamily="34" charset="-120"/>
              </a:rPr>
              <a:t>Latent Demand Correction:</a:t>
            </a:r>
            <a:pPr algn="l" indent="0" marL="0">
              <a:lnSpc>
                <a:spcPct val="126000"/>
              </a:lnSpc>
              <a:spcAft>
                <a:spcPts val="900"/>
              </a:spcAft>
              <a:buNone/>
            </a:pPr>
            <a:r>
              <a:rPr lang="en-US" sz="1150" dirty="0">
                <a:solidFill>
                  <a:srgbClr val="1E3063"/>
                </a:solidFill>
                <a:latin typeface="Instrument Sans Medium" pitchFamily="34" charset="0"/>
                <a:ea typeface="Instrument Sans Medium" pitchFamily="34" charset="-122"/>
                <a:cs typeface="Instrument Sans Medium" pitchFamily="34" charset="-120"/>
              </a:rPr>
              <a:t> When a clinic is out of stock, patients stop asking — causing historical records to show zero consumption. The model uncouples projected demand from zero-dispensing records, estimating true demand based on catchment population, disease prevalence, and seasonal indices.</a:t>
            </a:r>
            <a:endParaRPr lang="en-US" sz="1150" dirty="0"/>
          </a:p>
          <a:p>
            <a:pPr algn="l" indent="0" marL="0">
              <a:lnSpc>
                <a:spcPct val="126000"/>
              </a:lnSpc>
              <a:buNone/>
            </a:pPr>
            <a:r>
              <a:rPr lang="en-US" sz="1150" b="1" dirty="0">
                <a:solidFill>
                  <a:srgbClr val="1E3063"/>
                </a:solidFill>
                <a:latin typeface="Instrument Sans Bold" pitchFamily="34" charset="0"/>
                <a:ea typeface="Instrument Sans Bold" pitchFamily="34" charset="-122"/>
                <a:cs typeface="Instrument Sans Bold" pitchFamily="34" charset="-120"/>
              </a:rPr>
              <a:t>SEIR Outbreak Dynamic Modelling:</a:t>
            </a:r>
            <a:pPr algn="l" indent="0" marL="0">
              <a:lnSpc>
                <a:spcPct val="12600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 Implements mathematical Susceptible-Exposed-Infected-Recovered curves to simulate transmission dynamics and generate forward-looking </a:t>
            </a:r>
            <a:pPr algn="l" indent="0" marL="0">
              <a:lnSpc>
                <a:spcPct val="126000"/>
              </a:lnSpc>
              <a:buNone/>
            </a:pPr>
            <a:r>
              <a:rPr lang="en-US" sz="1150" b="1" dirty="0">
                <a:solidFill>
                  <a:srgbClr val="1E3063"/>
                </a:solidFill>
                <a:latin typeface="Instrument Sans Bold" pitchFamily="34" charset="0"/>
                <a:ea typeface="Instrument Sans Bold" pitchFamily="34" charset="-122"/>
                <a:cs typeface="Instrument Sans Bold" pitchFamily="34" charset="-120"/>
              </a:rPr>
              <a:t>14-day medicine consumption projections</a:t>
            </a:r>
            <a:pPr algn="l" indent="0" marL="0">
              <a:lnSpc>
                <a:spcPct val="12600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820638"/>
            <a:ext cx="10868745" cy="436066"/>
          </a:xfrm>
          <a:prstGeom prst="rect">
            <a:avLst/>
          </a:prstGeom>
          <a:noFill/>
          <a:ln/>
        </p:spPr>
        <p:txBody>
          <a:bodyPr wrap="none" lIns="0" tIns="0" rIns="0" bIns="0" rtlCol="0" anchor="t"/>
          <a:lstStyle/>
          <a:p>
            <a:pPr algn="l" indent="0" marL="0">
              <a:lnSpc>
                <a:spcPct val="104000"/>
              </a:lnSpc>
              <a:buNone/>
            </a:pPr>
            <a:r>
              <a:rPr lang="en-US" sz="2700" dirty="0">
                <a:solidFill>
                  <a:srgbClr val="091C53"/>
                </a:solidFill>
                <a:latin typeface="Instrument Sans SemiBold" pitchFamily="34" charset="0"/>
                <a:ea typeface="Instrument Sans SemiBold" pitchFamily="34" charset="-122"/>
                <a:cs typeface="Instrument Sans SemiBold" pitchFamily="34" charset="-120"/>
              </a:rPr>
              <a:t>Intelligent Geospatial Redistribution &amp; Logistics Engine</a:t>
            </a:r>
            <a:endParaRPr lang="en-US" sz="2700" dirty="0"/>
          </a:p>
        </p:txBody>
      </p:sp>
      <p:sp>
        <p:nvSpPr>
          <p:cNvPr id="3" name="Text 1"/>
          <p:cNvSpPr/>
          <p:nvPr/>
        </p:nvSpPr>
        <p:spPr>
          <a:xfrm>
            <a:off x="661475" y="1492151"/>
            <a:ext cx="10868745"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The operational core that matches surplus with deficit and coordinates medicine movement — transforming a fragmented, invisible network of isolated facilities into a coordinated, intelligent redistribution grid. This core engine directly solves the paradox of simultaneous shortage and expiry.</a:t>
            </a:r>
            <a:endParaRPr lang="en-US" sz="1050" dirty="0"/>
          </a:p>
        </p:txBody>
      </p:sp>
      <p:sp>
        <p:nvSpPr>
          <p:cNvPr id="4" name="Text 2"/>
          <p:cNvSpPr/>
          <p:nvPr/>
        </p:nvSpPr>
        <p:spPr>
          <a:xfrm>
            <a:off x="661475" y="2154039"/>
            <a:ext cx="5264217" cy="217984"/>
          </a:xfrm>
          <a:prstGeom prst="rect">
            <a:avLst/>
          </a:prstGeom>
          <a:noFill/>
          <a:ln/>
        </p:spPr>
        <p:txBody>
          <a:bodyPr wrap="none" lIns="0" tIns="0" rIns="0" bIns="0" rtlCol="0" anchor="t"/>
          <a:lstStyle/>
          <a:p>
            <a:pPr algn="l" indent="0" marL="0">
              <a:lnSpc>
                <a:spcPct val="104000"/>
              </a:lnSpc>
              <a:buNone/>
            </a:pPr>
            <a:r>
              <a:rPr lang="en-US" sz="1350" dirty="0">
                <a:solidFill>
                  <a:srgbClr val="091C53"/>
                </a:solidFill>
                <a:latin typeface="Instrument Sans SemiBold" pitchFamily="34" charset="0"/>
                <a:ea typeface="Instrument Sans SemiBold" pitchFamily="34" charset="-122"/>
                <a:cs typeface="Instrument Sans SemiBold" pitchFamily="34" charset="-120"/>
              </a:rPr>
              <a:t>Peer-to-Peer Facility Matching Algorithm</a:t>
            </a:r>
            <a:endParaRPr lang="en-US" sz="1350" dirty="0"/>
          </a:p>
        </p:txBody>
      </p:sp>
      <p:sp>
        <p:nvSpPr>
          <p:cNvPr id="5" name="Text 3"/>
          <p:cNvSpPr/>
          <p:nvPr/>
        </p:nvSpPr>
        <p:spPr>
          <a:xfrm>
            <a:off x="661475" y="2489696"/>
            <a:ext cx="5264217" cy="1547118"/>
          </a:xfrm>
          <a:prstGeom prst="rect">
            <a:avLst/>
          </a:prstGeom>
          <a:noFill/>
          <a:ln/>
        </p:spPr>
        <p:txBody>
          <a:bodyPr wrap="square" lIns="0" tIns="0" rIns="0" bIns="0" rtlCol="0" anchor="t">
            <a:normAutofit/>
          </a:bodyPr>
          <a:lstStyle/>
          <a:p>
            <a:pPr algn="l" indent="0" marL="0">
              <a:lnSpc>
                <a:spcPct val="123000"/>
              </a:lnSpc>
              <a:spcAft>
                <a:spcPts val="800"/>
              </a:spcAft>
              <a:buNone/>
            </a:pPr>
            <a:r>
              <a:rPr lang="en-US" sz="1050" dirty="0">
                <a:solidFill>
                  <a:srgbClr val="1E3063"/>
                </a:solidFill>
                <a:latin typeface="Instrument Sans Medium" pitchFamily="34" charset="0"/>
                <a:ea typeface="Instrument Sans Medium" pitchFamily="34" charset="-122"/>
                <a:cs typeface="Instrument Sans Medium" pitchFamily="34" charset="-120"/>
              </a:rPr>
              <a:t>Automatically pairs a </a:t>
            </a:r>
            <a:pPr algn="l" indent="0" marL="0">
              <a:lnSpc>
                <a:spcPct val="123000"/>
              </a:lnSpc>
              <a:spcAft>
                <a:spcPts val="800"/>
              </a:spcAft>
              <a:buNone/>
            </a:pPr>
            <a:r>
              <a:rPr lang="en-US" sz="1050" b="1" dirty="0">
                <a:solidFill>
                  <a:srgbClr val="1E3063"/>
                </a:solidFill>
                <a:latin typeface="Instrument Sans Bold" pitchFamily="34" charset="0"/>
                <a:ea typeface="Instrument Sans Bold" pitchFamily="34" charset="-122"/>
                <a:cs typeface="Instrument Sans Bold" pitchFamily="34" charset="-120"/>
              </a:rPr>
              <a:t>Donor Facility</a:t>
            </a:r>
            <a:pPr algn="l" indent="0" marL="0">
              <a:lnSpc>
                <a:spcPct val="123000"/>
              </a:lnSpc>
              <a:spcAft>
                <a:spcPts val="800"/>
              </a:spcAft>
              <a:buNone/>
            </a:pPr>
            <a:r>
              <a:rPr lang="en-US" sz="1050" dirty="0">
                <a:solidFill>
                  <a:srgbClr val="1E3063"/>
                </a:solidFill>
                <a:latin typeface="Instrument Sans Medium" pitchFamily="34" charset="0"/>
                <a:ea typeface="Instrument Sans Medium" pitchFamily="34" charset="-122"/>
                <a:cs typeface="Instrument Sans Medium" pitchFamily="34" charset="-120"/>
              </a:rPr>
              <a:t> (holding an expiring surplus) with a </a:t>
            </a:r>
            <a:pPr algn="l" indent="0" marL="0">
              <a:lnSpc>
                <a:spcPct val="123000"/>
              </a:lnSpc>
              <a:spcAft>
                <a:spcPts val="800"/>
              </a:spcAft>
              <a:buNone/>
            </a:pPr>
            <a:r>
              <a:rPr lang="en-US" sz="1050" b="1" dirty="0">
                <a:solidFill>
                  <a:srgbClr val="1E3063"/>
                </a:solidFill>
                <a:latin typeface="Instrument Sans Bold" pitchFamily="34" charset="0"/>
                <a:ea typeface="Instrument Sans Bold" pitchFamily="34" charset="-122"/>
                <a:cs typeface="Instrument Sans Bold" pitchFamily="34" charset="-120"/>
              </a:rPr>
              <a:t>Recipient Facility</a:t>
            </a:r>
            <a:pPr algn="l" indent="0" marL="0">
              <a:lnSpc>
                <a:spcPct val="123000"/>
              </a:lnSpc>
              <a:spcAft>
                <a:spcPts val="800"/>
              </a:spcAft>
              <a:buNone/>
            </a:pPr>
            <a:r>
              <a:rPr lang="en-US" sz="1050" dirty="0">
                <a:solidFill>
                  <a:srgbClr val="1E3063"/>
                </a:solidFill>
                <a:latin typeface="Instrument Sans Medium" pitchFamily="34" charset="0"/>
                <a:ea typeface="Instrument Sans Medium" pitchFamily="34" charset="-122"/>
                <a:cs typeface="Instrument Sans Medium" pitchFamily="34" charset="-120"/>
              </a:rPr>
              <a:t> (facing a projected stockout of the exact same medicine). Enforces </a:t>
            </a:r>
            <a:pPr algn="l" indent="0" marL="0">
              <a:lnSpc>
                <a:spcPct val="123000"/>
              </a:lnSpc>
              <a:spcAft>
                <a:spcPts val="800"/>
              </a:spcAft>
              <a:buNone/>
            </a:pPr>
            <a:r>
              <a:rPr lang="en-US" sz="1050" b="1" dirty="0">
                <a:solidFill>
                  <a:srgbClr val="1E3063"/>
                </a:solidFill>
                <a:latin typeface="Instrument Sans Bold" pitchFamily="34" charset="0"/>
                <a:ea typeface="Instrument Sans Bold" pitchFamily="34" charset="-122"/>
                <a:cs typeface="Instrument Sans Bold" pitchFamily="34" charset="-120"/>
              </a:rPr>
              <a:t>Safety Reserve Buffers</a:t>
            </a:r>
            <a:pPr algn="l" indent="0" marL="0">
              <a:lnSpc>
                <a:spcPct val="123000"/>
              </a:lnSpc>
              <a:spcAft>
                <a:spcPts val="800"/>
              </a:spcAft>
              <a:buNone/>
            </a:pPr>
            <a:r>
              <a:rPr lang="en-US" sz="1050" dirty="0">
                <a:solidFill>
                  <a:srgbClr val="1E3063"/>
                </a:solidFill>
                <a:latin typeface="Instrument Sans Medium" pitchFamily="34" charset="0"/>
                <a:ea typeface="Instrument Sans Medium" pitchFamily="34" charset="-122"/>
                <a:cs typeface="Instrument Sans Medium" pitchFamily="34" charset="-120"/>
              </a:rPr>
              <a:t>: a donor clinic is never allowed to donate medicines if doing so would drop its own inventory below a 15-day emergency safety buffer.</a:t>
            </a:r>
            <a:endParaRPr lang="en-US" sz="1050" dirty="0"/>
          </a:p>
          <a:p>
            <a:pPr algn="l" indent="0" marL="0">
              <a:lnSpc>
                <a:spcPct val="1230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Eligible recipients are ranked using a composite score based on: </a:t>
            </a:r>
            <a:pPr algn="l" indent="0" marL="0">
              <a:lnSpc>
                <a:spcPct val="123000"/>
              </a:lnSpc>
              <a:buNone/>
            </a:pPr>
            <a:r>
              <a:rPr lang="en-US" sz="1050" b="1" dirty="0">
                <a:solidFill>
                  <a:srgbClr val="1E3063"/>
                </a:solidFill>
                <a:latin typeface="Instrument Sans Bold" pitchFamily="34" charset="0"/>
                <a:ea typeface="Instrument Sans Bold" pitchFamily="34" charset="-122"/>
                <a:cs typeface="Instrument Sans Bold" pitchFamily="34" charset="-120"/>
              </a:rPr>
              <a:t>Severity of Impending Stockout + Inverse Driving Distance + Cold-Chain Transport Compatibility.</a:t>
            </a:r>
            <a:endParaRPr lang="en-US" sz="1050" dirty="0"/>
          </a:p>
        </p:txBody>
      </p:sp>
      <p:sp>
        <p:nvSpPr>
          <p:cNvPr id="6" name="Text 4"/>
          <p:cNvSpPr/>
          <p:nvPr/>
        </p:nvSpPr>
        <p:spPr>
          <a:xfrm>
            <a:off x="661475" y="4154488"/>
            <a:ext cx="5264217" cy="217984"/>
          </a:xfrm>
          <a:prstGeom prst="rect">
            <a:avLst/>
          </a:prstGeom>
          <a:noFill/>
          <a:ln/>
        </p:spPr>
        <p:txBody>
          <a:bodyPr wrap="none" lIns="0" tIns="0" rIns="0" bIns="0" rtlCol="0" anchor="t"/>
          <a:lstStyle/>
          <a:p>
            <a:pPr algn="l" indent="0" marL="0">
              <a:lnSpc>
                <a:spcPct val="104000"/>
              </a:lnSpc>
              <a:buNone/>
            </a:pPr>
            <a:r>
              <a:rPr lang="en-US" sz="1350" dirty="0">
                <a:solidFill>
                  <a:srgbClr val="091C53"/>
                </a:solidFill>
                <a:latin typeface="Instrument Sans SemiBold" pitchFamily="34" charset="0"/>
                <a:ea typeface="Instrument Sans SemiBold" pitchFamily="34" charset="-122"/>
                <a:cs typeface="Instrument Sans SemiBold" pitchFamily="34" charset="-120"/>
              </a:rPr>
              <a:t>Human-in-the-Loop Governance &amp; Digital State Machine</a:t>
            </a:r>
            <a:endParaRPr lang="en-US" sz="1350" dirty="0"/>
          </a:p>
        </p:txBody>
      </p:sp>
      <p:sp>
        <p:nvSpPr>
          <p:cNvPr id="7" name="Text 5"/>
          <p:cNvSpPr/>
          <p:nvPr/>
        </p:nvSpPr>
        <p:spPr>
          <a:xfrm>
            <a:off x="661475" y="4490145"/>
            <a:ext cx="5264217" cy="1441152"/>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To comply with pharmaceutical regulations, medicines are never moved autonomously without human authorisation. Governed by a strict state-transition workflow: </a:t>
            </a:r>
            <a:pPr algn="l" indent="0" marL="0">
              <a:lnSpc>
                <a:spcPct val="123000"/>
              </a:lnSpc>
              <a:buNone/>
            </a:pPr>
            <a:r>
              <a:rPr lang="en-US" sz="1050" b="1" dirty="0">
                <a:solidFill>
                  <a:srgbClr val="1E3063"/>
                </a:solidFill>
                <a:latin typeface="Instrument Sans Bold" pitchFamily="34" charset="0"/>
                <a:ea typeface="Instrument Sans Bold" pitchFamily="34" charset="-122"/>
                <a:cs typeface="Instrument Sans Bold" pitchFamily="34" charset="-120"/>
              </a:rPr>
              <a:t>RECOMMENDED</a:t>
            </a:r>
            <a:pPr algn="l" indent="0" marL="0">
              <a:lnSpc>
                <a:spcPct val="1230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 (AI detects imbalance and proposes transfer) → </a:t>
            </a:r>
            <a:pPr algn="l" indent="0" marL="0">
              <a:lnSpc>
                <a:spcPct val="123000"/>
              </a:lnSpc>
              <a:buNone/>
            </a:pPr>
            <a:r>
              <a:rPr lang="en-US" sz="1050" b="1" dirty="0">
                <a:solidFill>
                  <a:srgbClr val="1E3063"/>
                </a:solidFill>
                <a:latin typeface="Instrument Sans Bold" pitchFamily="34" charset="0"/>
                <a:ea typeface="Instrument Sans Bold" pitchFamily="34" charset="-122"/>
                <a:cs typeface="Instrument Sans Bold" pitchFamily="34" charset="-120"/>
              </a:rPr>
              <a:t>APPROVED_BY_DHO</a:t>
            </a:r>
            <a:pPr algn="l" indent="0" marL="0">
              <a:lnSpc>
                <a:spcPct val="1230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 (District Health Officer reviews clinical rationale and signs off) → </a:t>
            </a:r>
            <a:pPr algn="l" indent="0" marL="0">
              <a:lnSpc>
                <a:spcPct val="123000"/>
              </a:lnSpc>
              <a:buNone/>
            </a:pPr>
            <a:r>
              <a:rPr lang="en-US" sz="1050" b="1" dirty="0">
                <a:solidFill>
                  <a:srgbClr val="1E3063"/>
                </a:solidFill>
                <a:latin typeface="Instrument Sans Bold" pitchFamily="34" charset="0"/>
                <a:ea typeface="Instrument Sans Bold" pitchFamily="34" charset="-122"/>
                <a:cs typeface="Instrument Sans Bold" pitchFamily="34" charset="-120"/>
              </a:rPr>
              <a:t>IN_TRANSIT</a:t>
            </a:r>
            <a:pPr algn="l" indent="0" marL="0">
              <a:lnSpc>
                <a:spcPct val="1230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 (Driver departs with dispatch challan) → </a:t>
            </a:r>
            <a:pPr algn="l" indent="0" marL="0">
              <a:lnSpc>
                <a:spcPct val="123000"/>
              </a:lnSpc>
              <a:buNone/>
            </a:pPr>
            <a:r>
              <a:rPr lang="en-US" sz="1050" b="1" dirty="0">
                <a:solidFill>
                  <a:srgbClr val="1E3063"/>
                </a:solidFill>
                <a:latin typeface="Instrument Sans Bold" pitchFamily="34" charset="0"/>
                <a:ea typeface="Instrument Sans Bold" pitchFamily="34" charset="-122"/>
                <a:cs typeface="Instrument Sans Bold" pitchFamily="34" charset="-120"/>
              </a:rPr>
              <a:t>RECEIVED_AND_VERIFIED</a:t>
            </a:r>
            <a:pPr algn="l" indent="0" marL="0">
              <a:lnSpc>
                <a:spcPct val="1230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 (Recipient pharmacist scans and enters stock into destination inventory).</a:t>
            </a:r>
            <a:endParaRPr lang="en-US" sz="1050" dirty="0"/>
          </a:p>
        </p:txBody>
      </p:sp>
      <p:sp>
        <p:nvSpPr>
          <p:cNvPr id="8" name="Text 6"/>
          <p:cNvSpPr/>
          <p:nvPr/>
        </p:nvSpPr>
        <p:spPr>
          <a:xfrm>
            <a:off x="6272353" y="2154039"/>
            <a:ext cx="5264217" cy="217984"/>
          </a:xfrm>
          <a:prstGeom prst="rect">
            <a:avLst/>
          </a:prstGeom>
          <a:noFill/>
          <a:ln/>
        </p:spPr>
        <p:txBody>
          <a:bodyPr wrap="none" lIns="0" tIns="0" rIns="0" bIns="0" rtlCol="0" anchor="t"/>
          <a:lstStyle/>
          <a:p>
            <a:pPr algn="l" indent="0" marL="0">
              <a:lnSpc>
                <a:spcPct val="104000"/>
              </a:lnSpc>
              <a:buNone/>
            </a:pPr>
            <a:r>
              <a:rPr lang="en-US" sz="1350" dirty="0">
                <a:solidFill>
                  <a:srgbClr val="091C53"/>
                </a:solidFill>
                <a:latin typeface="Instrument Sans SemiBold" pitchFamily="34" charset="0"/>
                <a:ea typeface="Instrument Sans SemiBold" pitchFamily="34" charset="-122"/>
                <a:cs typeface="Instrument Sans SemiBold" pitchFamily="34" charset="-120"/>
              </a:rPr>
              <a:t>Interactive Transit Map (Leaflet GIS)</a:t>
            </a:r>
            <a:endParaRPr lang="en-US" sz="1350" dirty="0"/>
          </a:p>
        </p:txBody>
      </p:sp>
      <p:sp>
        <p:nvSpPr>
          <p:cNvPr id="9" name="Text 7"/>
          <p:cNvSpPr/>
          <p:nvPr/>
        </p:nvSpPr>
        <p:spPr>
          <a:xfrm>
            <a:off x="6272353" y="2489696"/>
            <a:ext cx="5264217" cy="1235273"/>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Visualises public healthcare facilities across the district with colour-coded geographic markers. Renders live transfer routes connecting donor and recipient facilities. Features animated logistics transit pulses showing medical supply transport vehicles in transit. Displays </a:t>
            </a:r>
            <a:pPr algn="l" indent="0" marL="0">
              <a:lnSpc>
                <a:spcPct val="123000"/>
              </a:lnSpc>
              <a:buNone/>
            </a:pPr>
            <a:r>
              <a:rPr lang="en-US" sz="1050" b="1" dirty="0">
                <a:solidFill>
                  <a:srgbClr val="1E3063"/>
                </a:solidFill>
                <a:latin typeface="Instrument Sans Bold" pitchFamily="34" charset="0"/>
                <a:ea typeface="Instrument Sans Bold" pitchFamily="34" charset="-122"/>
                <a:cs typeface="Instrument Sans Bold" pitchFamily="34" charset="-120"/>
              </a:rPr>
              <a:t>cold-chain warnings</a:t>
            </a:r>
            <a:pPr algn="l" indent="0" marL="0">
              <a:lnSpc>
                <a:spcPct val="1230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 (blue ice badge) for temperature-sensitive drugs like Anti-Snake Venom, Rabies Vaccines, and Insulin — ensuring they are only moved via cold-box equipped vehicles.</a:t>
            </a:r>
            <a:endParaRPr lang="en-US" sz="1050" dirty="0"/>
          </a:p>
        </p:txBody>
      </p:sp>
      <p:sp>
        <p:nvSpPr>
          <p:cNvPr id="10" name="Shape 8"/>
          <p:cNvSpPr/>
          <p:nvPr/>
        </p:nvSpPr>
        <p:spPr>
          <a:xfrm>
            <a:off x="6272353" y="3857427"/>
            <a:ext cx="5264217" cy="1105098"/>
          </a:xfrm>
          <a:prstGeom prst="roundRect">
            <a:avLst>
              <a:gd name="adj" fmla="val 11365"/>
            </a:avLst>
          </a:prstGeom>
          <a:solidFill>
            <a:srgbClr val="CEE6FD"/>
          </a:solidFill>
          <a:ln/>
        </p:spPr>
        <p:txBody>
          <a:bodyPr/>
          <a:p/>
        </p:txBody>
      </p:sp>
      <p:pic>
        <p:nvPicPr>
          <p:cNvPr id="11" name="Image 0" descr="preencoded.png">    </p:cNvPr>
          <p:cNvPicPr>
            <a:picLocks noChangeAspect="1"/>
          </p:cNvPicPr>
          <p:nvPr/>
        </p:nvPicPr>
        <p:blipFill>
          <a:blip r:embed="rId1"/>
          <a:stretch>
            <a:fillRect/>
          </a:stretch>
        </p:blipFill>
        <p:spPr>
          <a:xfrm>
            <a:off x="6411851" y="4040188"/>
            <a:ext cx="174422" cy="139502"/>
          </a:xfrm>
          <a:prstGeom prst="rect">
            <a:avLst/>
          </a:prstGeom>
        </p:spPr>
      </p:pic>
      <p:sp>
        <p:nvSpPr>
          <p:cNvPr id="12" name="Text 9"/>
          <p:cNvSpPr/>
          <p:nvPr/>
        </p:nvSpPr>
        <p:spPr>
          <a:xfrm>
            <a:off x="6725772" y="3998218"/>
            <a:ext cx="4671300" cy="823516"/>
          </a:xfrm>
          <a:prstGeom prst="rect">
            <a:avLst/>
          </a:prstGeom>
          <a:noFill/>
          <a:ln/>
        </p:spPr>
        <p:txBody>
          <a:bodyPr wrap="square" lIns="0" tIns="0" rIns="0" bIns="0" rtlCol="0" anchor="t">
            <a:normAutofit/>
          </a:bodyPr>
          <a:lstStyle/>
          <a:p>
            <a:pPr algn="l" indent="0" marL="0">
              <a:lnSpc>
                <a:spcPct val="123000"/>
              </a:lnSpc>
              <a:buNone/>
            </a:pPr>
            <a:r>
              <a:rPr lang="en-US" sz="1050" b="1" dirty="0">
                <a:solidFill>
                  <a:srgbClr val="000000"/>
                </a:solidFill>
                <a:latin typeface="Instrument Sans Bold" pitchFamily="34" charset="0"/>
                <a:ea typeface="Instrument Sans Bold" pitchFamily="34" charset="-122"/>
                <a:cs typeface="Instrument Sans Bold" pitchFamily="34" charset="-120"/>
              </a:rPr>
              <a:t>Regulatory Compliance by Design:</a:t>
            </a:r>
            <a:pPr algn="l" indent="0" marL="0">
              <a:lnSpc>
                <a:spcPct val="123000"/>
              </a:lnSpc>
              <a:buNone/>
            </a:pPr>
            <a:r>
              <a:rPr lang="en-US" sz="1050" dirty="0">
                <a:solidFill>
                  <a:srgbClr val="000000"/>
                </a:solidFill>
                <a:latin typeface="Instrument Sans Medium" pitchFamily="34" charset="0"/>
                <a:ea typeface="Instrument Sans Medium" pitchFamily="34" charset="-122"/>
                <a:cs typeface="Instrument Sans Medium" pitchFamily="34" charset="-120"/>
              </a:rPr>
              <a:t> Every transfer is fully auditable, with digital approval trails, dispatch challans, and recipient verification — meeting all NHM and state pharmaceutical governance requirements without adding bureaucratic friction.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14449"/>
            <a:ext cx="10868745" cy="484485"/>
          </a:xfrm>
          <a:prstGeom prst="rect">
            <a:avLst/>
          </a:prstGeom>
          <a:noFill/>
          <a:ln/>
        </p:spPr>
        <p:txBody>
          <a:bodyPr wrap="none" lIns="0" tIns="0" rIns="0" bIns="0" rtlCol="0" anchor="t"/>
          <a:lstStyle/>
          <a:p>
            <a:pPr algn="l" indent="0" marL="0">
              <a:lnSpc>
                <a:spcPct val="104000"/>
              </a:lnSpc>
              <a:buNone/>
            </a:pPr>
            <a:r>
              <a:rPr lang="en-US" sz="3050" dirty="0">
                <a:solidFill>
                  <a:srgbClr val="091C53"/>
                </a:solidFill>
                <a:latin typeface="Instrument Sans SemiBold" pitchFamily="34" charset="0"/>
                <a:ea typeface="Instrument Sans SemiBold" pitchFamily="34" charset="-122"/>
                <a:cs typeface="Instrument Sans SemiBold" pitchFamily="34" charset="-120"/>
              </a:rPr>
              <a:t>Unified Three-Tier Stakeholder Ecosystem</a:t>
            </a:r>
            <a:endParaRPr lang="en-US" sz="3050" dirty="0"/>
          </a:p>
        </p:txBody>
      </p:sp>
      <p:sp>
        <p:nvSpPr>
          <p:cNvPr id="3" name="Text 1"/>
          <p:cNvSpPr/>
          <p:nvPr/>
        </p:nvSpPr>
        <p:spPr>
          <a:xfrm>
            <a:off x="661475" y="1289645"/>
            <a:ext cx="10868745" cy="48061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Aushadh Setu provides purpose-built interfaces for every participant in the public health ecosystem — from the District Health Officer making strategic decisions, to the rural pharmacist managing daily dispensing, to the citizen checking medicine availability before travelling to a clinic.</a:t>
            </a:r>
            <a:endParaRPr lang="en-US" sz="1200" dirty="0"/>
          </a:p>
        </p:txBody>
      </p:sp>
      <p:pic>
        <p:nvPicPr>
          <p:cNvPr id="4" name="Image 0" descr="preencoded.png">    </p:cNvPr>
          <p:cNvPicPr>
            <a:picLocks noChangeAspect="1"/>
          </p:cNvPicPr>
          <p:nvPr/>
        </p:nvPicPr>
        <p:blipFill>
          <a:blip r:embed="rId1"/>
          <a:stretch>
            <a:fillRect/>
          </a:stretch>
        </p:blipFill>
        <p:spPr>
          <a:xfrm>
            <a:off x="661475" y="1933773"/>
            <a:ext cx="2030957" cy="1255216"/>
          </a:xfrm>
          <a:prstGeom prst="rect">
            <a:avLst/>
          </a:prstGeom>
        </p:spPr>
      </p:pic>
      <p:sp>
        <p:nvSpPr>
          <p:cNvPr id="5" name="Text 2"/>
          <p:cNvSpPr/>
          <p:nvPr/>
        </p:nvSpPr>
        <p:spPr>
          <a:xfrm>
            <a:off x="661475" y="3370659"/>
            <a:ext cx="3501739" cy="242193"/>
          </a:xfrm>
          <a:prstGeom prst="rect">
            <a:avLst/>
          </a:prstGeom>
          <a:noFill/>
          <a:ln/>
        </p:spPr>
        <p:txBody>
          <a:bodyPr wrap="none" lIns="0" tIns="0" rIns="0" bIns="0" rtlCol="0" anchor="t"/>
          <a:lstStyle/>
          <a:p>
            <a:pPr algn="l" indent="0" marL="0">
              <a:lnSpc>
                <a:spcPct val="104000"/>
              </a:lnSpc>
              <a:buNone/>
            </a:pPr>
            <a:r>
              <a:rPr lang="en-US" sz="1500" dirty="0">
                <a:solidFill>
                  <a:srgbClr val="1E3063"/>
                </a:solidFill>
                <a:latin typeface="Instrument Sans SemiBold" pitchFamily="34" charset="0"/>
                <a:ea typeface="Instrument Sans SemiBold" pitchFamily="34" charset="-122"/>
                <a:cs typeface="Instrument Sans SemiBold" pitchFamily="34" charset="-120"/>
              </a:rPr>
              <a:t>DHO Command Console</a:t>
            </a:r>
            <a:endParaRPr lang="en-US" sz="1500" dirty="0"/>
          </a:p>
        </p:txBody>
      </p:sp>
      <p:sp>
        <p:nvSpPr>
          <p:cNvPr id="6" name="Text 3"/>
          <p:cNvSpPr/>
          <p:nvPr/>
        </p:nvSpPr>
        <p:spPr>
          <a:xfrm>
            <a:off x="661475" y="3700066"/>
            <a:ext cx="3501739" cy="2403078"/>
          </a:xfrm>
          <a:prstGeom prst="rect">
            <a:avLst/>
          </a:prstGeom>
          <a:noFill/>
          <a:ln/>
        </p:spPr>
        <p:txBody>
          <a:bodyPr wrap="square" lIns="0" tIns="0" rIns="0" bIns="0" rtlCol="0" anchor="t">
            <a:normAutofit/>
          </a:bodyPr>
          <a:lstStyle/>
          <a:p>
            <a:pPr algn="l" indent="0" marL="0">
              <a:lnSpc>
                <a:spcPct val="129000"/>
              </a:lnSpc>
              <a:buNone/>
            </a:pPr>
            <a:r>
              <a:rPr lang="en-US" sz="1200" b="1" dirty="0">
                <a:solidFill>
                  <a:srgbClr val="1E3063"/>
                </a:solidFill>
                <a:latin typeface="Instrument Sans Bold" pitchFamily="34" charset="0"/>
                <a:ea typeface="Instrument Sans Bold" pitchFamily="34" charset="-122"/>
                <a:cs typeface="Instrument Sans Bold" pitchFamily="34" charset="-120"/>
              </a:rPr>
              <a:t>Executive AI Copilot</a:t>
            </a:r>
            <a:pPr algn="l" indent="0" marL="0">
              <a:lnSpc>
                <a:spcPct val="1290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 generates concise, natural-language briefing cards explaining which taluks are under threat and which transfers need urgent sign-off. District Map View shows facility status, active alerts, and logistics movement. Transfer Approval Desk provides complete clinical context, driving distance, and one-click digital approval. Monday Morning Surveillance Sync allows the DHO to ingest new IDSP weekly reports and trigger re-forecasting on demand.</a:t>
            </a:r>
            <a:endParaRPr lang="en-US" sz="1200" dirty="0"/>
          </a:p>
        </p:txBody>
      </p:sp>
      <p:pic>
        <p:nvPicPr>
          <p:cNvPr id="7" name="Image 1" descr="preencoded.png">    </p:cNvPr>
          <p:cNvPicPr>
            <a:picLocks noChangeAspect="1"/>
          </p:cNvPicPr>
          <p:nvPr/>
        </p:nvPicPr>
        <p:blipFill>
          <a:blip r:embed="rId2"/>
          <a:stretch>
            <a:fillRect/>
          </a:stretch>
        </p:blipFill>
        <p:spPr>
          <a:xfrm>
            <a:off x="4344879" y="1933773"/>
            <a:ext cx="2031056" cy="1255316"/>
          </a:xfrm>
          <a:prstGeom prst="rect">
            <a:avLst/>
          </a:prstGeom>
        </p:spPr>
      </p:pic>
      <p:sp>
        <p:nvSpPr>
          <p:cNvPr id="8" name="Text 4"/>
          <p:cNvSpPr/>
          <p:nvPr/>
        </p:nvSpPr>
        <p:spPr>
          <a:xfrm>
            <a:off x="4344879" y="3370759"/>
            <a:ext cx="3501838" cy="242193"/>
          </a:xfrm>
          <a:prstGeom prst="rect">
            <a:avLst/>
          </a:prstGeom>
          <a:noFill/>
          <a:ln/>
        </p:spPr>
        <p:txBody>
          <a:bodyPr wrap="none" lIns="0" tIns="0" rIns="0" bIns="0" rtlCol="0" anchor="t"/>
          <a:lstStyle/>
          <a:p>
            <a:pPr algn="l" indent="0" marL="0">
              <a:lnSpc>
                <a:spcPct val="104000"/>
              </a:lnSpc>
              <a:buNone/>
            </a:pPr>
            <a:r>
              <a:rPr lang="en-US" sz="1500" dirty="0">
                <a:solidFill>
                  <a:srgbClr val="1E3063"/>
                </a:solidFill>
                <a:latin typeface="Instrument Sans SemiBold" pitchFamily="34" charset="0"/>
                <a:ea typeface="Instrument Sans SemiBold" pitchFamily="34" charset="-122"/>
                <a:cs typeface="Instrument Sans SemiBold" pitchFamily="34" charset="-120"/>
              </a:rPr>
              <a:t>Pharmacist Facility Portal</a:t>
            </a:r>
            <a:endParaRPr lang="en-US" sz="1500" dirty="0"/>
          </a:p>
        </p:txBody>
      </p:sp>
      <p:sp>
        <p:nvSpPr>
          <p:cNvPr id="9" name="Text 5"/>
          <p:cNvSpPr/>
          <p:nvPr/>
        </p:nvSpPr>
        <p:spPr>
          <a:xfrm>
            <a:off x="4344879" y="3700165"/>
            <a:ext cx="3501838" cy="2162770"/>
          </a:xfrm>
          <a:prstGeom prst="rect">
            <a:avLst/>
          </a:prstGeom>
          <a:noFill/>
          <a:ln/>
        </p:spPr>
        <p:txBody>
          <a:bodyPr wrap="square" lIns="0" tIns="0" rIns="0" bIns="0" rtlCol="0" anchor="t">
            <a:normAutofit/>
          </a:bodyPr>
          <a:lstStyle/>
          <a:p>
            <a:pPr algn="l" indent="0" marL="0">
              <a:lnSpc>
                <a:spcPct val="129000"/>
              </a:lnSpc>
              <a:buNone/>
            </a:pPr>
            <a:r>
              <a:rPr lang="en-US" sz="1200" b="1" dirty="0">
                <a:solidFill>
                  <a:srgbClr val="1E3063"/>
                </a:solidFill>
                <a:latin typeface="Instrument Sans Bold" pitchFamily="34" charset="0"/>
                <a:ea typeface="Instrument Sans Bold" pitchFamily="34" charset="-122"/>
                <a:cs typeface="Instrument Sans Bold" pitchFamily="34" charset="-120"/>
              </a:rPr>
              <a:t>Live Facility Inventory</a:t>
            </a:r>
            <a:pPr algn="l" indent="0" marL="0">
              <a:lnSpc>
                <a:spcPct val="1290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 displays current stock, batch numbers, days of stock remaining, and expiry countdowns. AI Camera Scanner enables immediate photo intake with auto-extraction of batch details. Stock Outward &amp; Inward Transfer Verification allows pharmacists to track driver progress and confirm receipt. Quick dispensing forms and consignment receipt tools minimise administrative burden on overworked rural staff.</a:t>
            </a:r>
            <a:endParaRPr lang="en-US" sz="1200" dirty="0"/>
          </a:p>
        </p:txBody>
      </p:sp>
      <p:pic>
        <p:nvPicPr>
          <p:cNvPr id="10" name="Image 2" descr="preencoded.png">    </p:cNvPr>
          <p:cNvPicPr>
            <a:picLocks noChangeAspect="1"/>
          </p:cNvPicPr>
          <p:nvPr/>
        </p:nvPicPr>
        <p:blipFill>
          <a:blip r:embed="rId3"/>
          <a:stretch>
            <a:fillRect/>
          </a:stretch>
        </p:blipFill>
        <p:spPr>
          <a:xfrm>
            <a:off x="8028382" y="1933773"/>
            <a:ext cx="2031056" cy="1255316"/>
          </a:xfrm>
          <a:prstGeom prst="rect">
            <a:avLst/>
          </a:prstGeom>
        </p:spPr>
      </p:pic>
      <p:sp>
        <p:nvSpPr>
          <p:cNvPr id="11" name="Text 6"/>
          <p:cNvSpPr/>
          <p:nvPr/>
        </p:nvSpPr>
        <p:spPr>
          <a:xfrm>
            <a:off x="8028382" y="3370759"/>
            <a:ext cx="3501838" cy="242193"/>
          </a:xfrm>
          <a:prstGeom prst="rect">
            <a:avLst/>
          </a:prstGeom>
          <a:noFill/>
          <a:ln/>
        </p:spPr>
        <p:txBody>
          <a:bodyPr wrap="none" lIns="0" tIns="0" rIns="0" bIns="0" rtlCol="0" anchor="t"/>
          <a:lstStyle/>
          <a:p>
            <a:pPr algn="l" indent="0" marL="0">
              <a:lnSpc>
                <a:spcPct val="104000"/>
              </a:lnSpc>
              <a:buNone/>
            </a:pPr>
            <a:r>
              <a:rPr lang="en-US" sz="1500" dirty="0">
                <a:solidFill>
                  <a:srgbClr val="1E3063"/>
                </a:solidFill>
                <a:latin typeface="Instrument Sans SemiBold" pitchFamily="34" charset="0"/>
                <a:ea typeface="Instrument Sans SemiBold" pitchFamily="34" charset="-122"/>
                <a:cs typeface="Instrument Sans SemiBold" pitchFamily="34" charset="-120"/>
              </a:rPr>
              <a:t>Citizen Public Medicine Finder</a:t>
            </a:r>
            <a:endParaRPr lang="en-US" sz="1500" dirty="0"/>
          </a:p>
        </p:txBody>
      </p:sp>
      <p:sp>
        <p:nvSpPr>
          <p:cNvPr id="12" name="Text 7"/>
          <p:cNvSpPr/>
          <p:nvPr/>
        </p:nvSpPr>
        <p:spPr>
          <a:xfrm>
            <a:off x="8028382" y="3700165"/>
            <a:ext cx="3501838" cy="264338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Simple, ultra-fast, mobile-friendly interface designed for rural and urban citizens. Browser Geolocation automatically detects GPS coordinates and calculates exact driving distance to nearby government health centres. Search by medicine name or illness keyword. Clear stock availability badges (</a:t>
            </a:r>
            <a:pPr algn="l" indent="0" marL="0">
              <a:lnSpc>
                <a:spcPct val="129000"/>
              </a:lnSpc>
              <a:buNone/>
            </a:pPr>
            <a:r>
              <a:rPr lang="en-US" sz="1200" dirty="0">
                <a:solidFill>
                  <a:srgbClr val="000000"/>
                </a:solidFill>
                <a:latin typeface="Noto Color Emoji" pitchFamily="34" charset="0"/>
                <a:ea typeface="Noto Color Emoji" pitchFamily="34" charset="-122"/>
                <a:cs typeface="Noto Color Emoji" pitchFamily="34" charset="-120"/>
              </a:rPr>
              <a:t>🟢</a:t>
            </a:r>
            <a:pPr algn="l" indent="0" marL="0">
              <a:lnSpc>
                <a:spcPct val="1290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 In Stock, </a:t>
            </a:r>
            <a:pPr algn="l" indent="0" marL="0">
              <a:lnSpc>
                <a:spcPct val="129000"/>
              </a:lnSpc>
              <a:buNone/>
            </a:pPr>
            <a:r>
              <a:rPr lang="en-US" sz="1200" dirty="0">
                <a:solidFill>
                  <a:srgbClr val="000000"/>
                </a:solidFill>
                <a:latin typeface="Noto Color Emoji" pitchFamily="34" charset="0"/>
                <a:ea typeface="Noto Color Emoji" pitchFamily="34" charset="-122"/>
                <a:cs typeface="Noto Color Emoji" pitchFamily="34" charset="-120"/>
              </a:rPr>
              <a:t>🟡</a:t>
            </a:r>
            <a:pPr algn="l" indent="0" marL="0">
              <a:lnSpc>
                <a:spcPct val="1290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 Limited, </a:t>
            </a:r>
            <a:pPr algn="l" indent="0" marL="0">
              <a:lnSpc>
                <a:spcPct val="129000"/>
              </a:lnSpc>
              <a:buNone/>
            </a:pPr>
            <a:r>
              <a:rPr lang="en-US" sz="1200" dirty="0">
                <a:solidFill>
                  <a:srgbClr val="000000"/>
                </a:solidFill>
                <a:latin typeface="Noto Color Emoji" pitchFamily="34" charset="0"/>
                <a:ea typeface="Noto Color Emoji" pitchFamily="34" charset="-122"/>
                <a:cs typeface="Noto Color Emoji" pitchFamily="34" charset="-120"/>
              </a:rPr>
              <a:t>🔴</a:t>
            </a:r>
            <a:pPr algn="l" indent="0" marL="0">
              <a:lnSpc>
                <a:spcPct val="1290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 Out of Stock). Shows complete address, operating hours, Medical Officer name, and a direct "Navigate via Google Maps" button — eliminating futile trips and lost daily wages.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18914"/>
            <a:ext cx="10868745" cy="920750"/>
          </a:xfrm>
          <a:prstGeom prst="rect">
            <a:avLst/>
          </a:prstGeom>
          <a:noFill/>
          <a:ln/>
        </p:spPr>
        <p:txBody>
          <a:bodyPr wrap="square" lIns="0" tIns="0" rIns="0" bIns="0" rtlCol="0" anchor="t">
            <a:normAutofit/>
          </a:bodyPr>
          <a:lstStyle/>
          <a:p>
            <a:pPr algn="l" indent="0" marL="0">
              <a:lnSpc>
                <a:spcPct val="104000"/>
              </a:lnSpc>
              <a:buNone/>
            </a:pPr>
            <a:r>
              <a:rPr lang="en-US" sz="2850" dirty="0">
                <a:solidFill>
                  <a:srgbClr val="091C53"/>
                </a:solidFill>
                <a:latin typeface="Instrument Sans SemiBold" pitchFamily="34" charset="0"/>
                <a:ea typeface="Instrument Sans SemiBold" pitchFamily="34" charset="-122"/>
                <a:cs typeface="Instrument Sans SemiBold" pitchFamily="34" charset="-120"/>
              </a:rPr>
              <a:t>Outbreak Simulation Sandbox &amp; Cloud Architecture</a:t>
            </a:r>
            <a:endParaRPr lang="en-US" sz="2850" dirty="0"/>
          </a:p>
        </p:txBody>
      </p:sp>
      <p:sp>
        <p:nvSpPr>
          <p:cNvPr id="3" name="Text 1"/>
          <p:cNvSpPr/>
          <p:nvPr/>
        </p:nvSpPr>
        <p:spPr>
          <a:xfrm>
            <a:off x="661475" y="1767582"/>
            <a:ext cx="5254692" cy="230187"/>
          </a:xfrm>
          <a:prstGeom prst="rect">
            <a:avLst/>
          </a:prstGeom>
          <a:noFill/>
          <a:ln/>
        </p:spPr>
        <p:txBody>
          <a:bodyPr wrap="none" lIns="0" tIns="0" rIns="0" bIns="0" rtlCol="0" anchor="t"/>
          <a:lstStyle/>
          <a:p>
            <a:pPr algn="l" indent="0" marL="0">
              <a:lnSpc>
                <a:spcPct val="104000"/>
              </a:lnSpc>
              <a:buNone/>
            </a:pPr>
            <a:r>
              <a:rPr lang="en-US" sz="1400" dirty="0">
                <a:solidFill>
                  <a:srgbClr val="091C53"/>
                </a:solidFill>
                <a:latin typeface="Instrument Sans SemiBold" pitchFamily="34" charset="0"/>
                <a:ea typeface="Instrument Sans SemiBold" pitchFamily="34" charset="-122"/>
                <a:cs typeface="Instrument Sans SemiBold" pitchFamily="34" charset="-120"/>
              </a:rPr>
              <a:t>Interactive Outbreak Stress-Testing Sandbox</a:t>
            </a:r>
            <a:endParaRPr lang="en-US" sz="1400" dirty="0"/>
          </a:p>
        </p:txBody>
      </p:sp>
      <p:sp>
        <p:nvSpPr>
          <p:cNvPr id="4" name="Text 2"/>
          <p:cNvSpPr/>
          <p:nvPr/>
        </p:nvSpPr>
        <p:spPr>
          <a:xfrm>
            <a:off x="661475" y="2128937"/>
            <a:ext cx="5254692" cy="3355975"/>
          </a:xfrm>
          <a:prstGeom prst="rect">
            <a:avLst/>
          </a:prstGeom>
          <a:noFill/>
          <a:ln/>
        </p:spPr>
        <p:txBody>
          <a:bodyPr wrap="square" lIns="0" tIns="0" rIns="0" bIns="0" rtlCol="0" anchor="t">
            <a:normAutofit/>
          </a:bodyPr>
          <a:lstStyle/>
          <a:p>
            <a:pPr algn="l" indent="0" marL="0">
              <a:lnSpc>
                <a:spcPct val="126000"/>
              </a:lnSpc>
              <a:spcAft>
                <a:spcPts val="900"/>
              </a:spcAft>
              <a:buNone/>
            </a:pPr>
            <a:r>
              <a:rPr lang="en-US" sz="1150" dirty="0">
                <a:solidFill>
                  <a:srgbClr val="1E3063"/>
                </a:solidFill>
                <a:latin typeface="Instrument Sans Medium" pitchFamily="34" charset="0"/>
                <a:ea typeface="Instrument Sans Medium" pitchFamily="34" charset="-122"/>
                <a:cs typeface="Instrument Sans Medium" pitchFamily="34" charset="-120"/>
              </a:rPr>
              <a:t>An interactive simulation testbench that allows administrators, evaluators, and health ministers to </a:t>
            </a:r>
            <a:pPr algn="l" indent="0" marL="0">
              <a:lnSpc>
                <a:spcPct val="126000"/>
              </a:lnSpc>
              <a:spcAft>
                <a:spcPts val="900"/>
              </a:spcAft>
              <a:buNone/>
            </a:pPr>
            <a:r>
              <a:rPr lang="en-US" sz="1150" b="1" dirty="0">
                <a:solidFill>
                  <a:srgbClr val="1E3063"/>
                </a:solidFill>
                <a:latin typeface="Instrument Sans Bold" pitchFamily="34" charset="0"/>
                <a:ea typeface="Instrument Sans Bold" pitchFamily="34" charset="-122"/>
                <a:cs typeface="Instrument Sans Bold" pitchFamily="34" charset="-120"/>
              </a:rPr>
              <a:t>stress-test the district healthcare grid under emergency conditions</a:t>
            </a:r>
            <a:pPr algn="l" indent="0" marL="0">
              <a:lnSpc>
                <a:spcPct val="126000"/>
              </a:lnSpc>
              <a:spcAft>
                <a:spcPts val="900"/>
              </a:spcAft>
              <a:buNone/>
            </a:pPr>
            <a:r>
              <a:rPr lang="en-US" sz="1150" dirty="0">
                <a:solidFill>
                  <a:srgbClr val="1E3063"/>
                </a:solidFill>
                <a:latin typeface="Instrument Sans Medium" pitchFamily="34" charset="0"/>
                <a:ea typeface="Instrument Sans Medium" pitchFamily="34" charset="-122"/>
                <a:cs typeface="Instrument Sans Medium" pitchFamily="34" charset="-120"/>
              </a:rPr>
              <a:t> — before a real crisis occurs.</a:t>
            </a:r>
            <a:endParaRPr lang="en-US" sz="1150" dirty="0"/>
          </a:p>
          <a:p>
            <a:pPr algn="l" indent="0" marL="0">
              <a:lnSpc>
                <a:spcPct val="126000"/>
              </a:lnSpc>
              <a:spcAft>
                <a:spcPts val="900"/>
              </a:spcAft>
              <a:buNone/>
            </a:pPr>
            <a:r>
              <a:rPr lang="en-US" sz="1150" b="1" dirty="0">
                <a:solidFill>
                  <a:srgbClr val="1E3063"/>
                </a:solidFill>
                <a:latin typeface="Instrument Sans Bold" pitchFamily="34" charset="0"/>
                <a:ea typeface="Instrument Sans Bold" pitchFamily="34" charset="-122"/>
                <a:cs typeface="Instrument Sans Bold" pitchFamily="34" charset="-120"/>
              </a:rPr>
              <a:t>Configurable Parameters:</a:t>
            </a:r>
            <a:pPr algn="l" indent="0" marL="0">
              <a:lnSpc>
                <a:spcPct val="126000"/>
              </a:lnSpc>
              <a:spcAft>
                <a:spcPts val="900"/>
              </a:spcAft>
              <a:buNone/>
            </a:pPr>
            <a:r>
              <a:rPr lang="en-US" sz="1150" dirty="0">
                <a:solidFill>
                  <a:srgbClr val="1E3063"/>
                </a:solidFill>
                <a:latin typeface="Instrument Sans Medium" pitchFamily="34" charset="0"/>
                <a:ea typeface="Instrument Sans Medium" pitchFamily="34" charset="-122"/>
                <a:cs typeface="Instrument Sans Medium" pitchFamily="34" charset="-120"/>
              </a:rPr>
              <a:t> Select outbreak type (Dengue Surge, Acute Diarrhoeal Disease, or ARI), set intensity multiplier (20% baseline up to 150% epidemic spike), and target specific vulnerable sub-districts.</a:t>
            </a:r>
            <a:endParaRPr lang="en-US" sz="1150" dirty="0"/>
          </a:p>
          <a:p>
            <a:pPr algn="l" indent="0" marL="0">
              <a:lnSpc>
                <a:spcPct val="126000"/>
              </a:lnSpc>
              <a:buNone/>
            </a:pPr>
            <a:r>
              <a:rPr lang="en-US" sz="1150" b="1" dirty="0">
                <a:solidFill>
                  <a:srgbClr val="1E3063"/>
                </a:solidFill>
                <a:latin typeface="Instrument Sans Bold" pitchFamily="34" charset="0"/>
                <a:ea typeface="Instrument Sans Bold" pitchFamily="34" charset="-122"/>
                <a:cs typeface="Instrument Sans Bold" pitchFamily="34" charset="-120"/>
              </a:rPr>
              <a:t>Live Cascade Demonstration:</a:t>
            </a:r>
            <a:pPr algn="l" indent="0" marL="0">
              <a:lnSpc>
                <a:spcPct val="12600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 Clicking "Trigger Outbreak Simulation" executes the entire reactive intelligence chain in real time — injecting an epidemiological spike, recalculating 14-day consumption curves, showing DSR plummeting into the red zone, scanning for unutilised batches nearing expiry, calculating optimal delivery routes, and surfacing new transfer recommendations on the DHO approval desk. Live impact counters demonstrate total patient stockout days averted and value of expired medicines rescued.</a:t>
            </a:r>
            <a:endParaRPr lang="en-US" sz="1150" dirty="0"/>
          </a:p>
        </p:txBody>
      </p:sp>
      <p:sp>
        <p:nvSpPr>
          <p:cNvPr id="5" name="Shape 3"/>
          <p:cNvSpPr/>
          <p:nvPr/>
        </p:nvSpPr>
        <p:spPr>
          <a:xfrm>
            <a:off x="6175816" y="1636415"/>
            <a:ext cx="5466816" cy="4702572"/>
          </a:xfrm>
          <a:prstGeom prst="roundRect">
            <a:avLst>
              <a:gd name="adj" fmla="val 4511"/>
            </a:avLst>
          </a:prstGeom>
          <a:solidFill>
            <a:srgbClr val="000E21"/>
          </a:solidFill>
          <a:ln/>
        </p:spPr>
        <p:txBody>
          <a:bodyPr/>
          <a:p/>
        </p:txBody>
      </p:sp>
      <p:sp>
        <p:nvSpPr>
          <p:cNvPr id="6" name="Text 4"/>
          <p:cNvSpPr/>
          <p:nvPr/>
        </p:nvSpPr>
        <p:spPr>
          <a:xfrm>
            <a:off x="6323053" y="1767582"/>
            <a:ext cx="5172342" cy="460375"/>
          </a:xfrm>
          <a:prstGeom prst="rect">
            <a:avLst/>
          </a:prstGeom>
          <a:noFill/>
          <a:ln/>
        </p:spPr>
        <p:txBody>
          <a:bodyPr wrap="square" lIns="0" tIns="0" rIns="0" bIns="0" rtlCol="0" anchor="t">
            <a:normAutofit/>
          </a:bodyPr>
          <a:lstStyle/>
          <a:p>
            <a:pPr algn="l" indent="0" marL="0">
              <a:lnSpc>
                <a:spcPct val="104000"/>
              </a:lnSpc>
              <a:buNone/>
            </a:pPr>
            <a:r>
              <a:rPr lang="en-US" sz="1400" dirty="0">
                <a:solidFill>
                  <a:srgbClr val="FFFFFF"/>
                </a:solidFill>
                <a:latin typeface="Instrument Sans SemiBold" pitchFamily="34" charset="0"/>
                <a:ea typeface="Instrument Sans SemiBold" pitchFamily="34" charset="-122"/>
                <a:cs typeface="Instrument Sans SemiBold" pitchFamily="34" charset="-120"/>
              </a:rPr>
              <a:t>Role-Based Access Control &amp; Serverless Architecture</a:t>
            </a:r>
            <a:endParaRPr lang="en-US" sz="1400" dirty="0"/>
          </a:p>
        </p:txBody>
      </p:sp>
      <p:sp>
        <p:nvSpPr>
          <p:cNvPr id="7" name="Text 5"/>
          <p:cNvSpPr/>
          <p:nvPr/>
        </p:nvSpPr>
        <p:spPr>
          <a:xfrm>
            <a:off x="6323053" y="2359124"/>
            <a:ext cx="5172342" cy="2706489"/>
          </a:xfrm>
          <a:prstGeom prst="rect">
            <a:avLst/>
          </a:prstGeom>
          <a:noFill/>
          <a:ln/>
        </p:spPr>
        <p:txBody>
          <a:bodyPr wrap="square" lIns="0" tIns="0" rIns="0" bIns="0" rtlCol="0" anchor="t">
            <a:normAutofit/>
          </a:bodyPr>
          <a:lstStyle/>
          <a:p>
            <a:pPr algn="l" indent="0" marL="0">
              <a:lnSpc>
                <a:spcPct val="126000"/>
              </a:lnSpc>
              <a:spcAft>
                <a:spcPts val="900"/>
              </a:spcAft>
              <a:buNone/>
            </a:pPr>
            <a:r>
              <a:rPr lang="en-US" sz="1150" b="1" dirty="0">
                <a:solidFill>
                  <a:srgbClr val="FFFFFF"/>
                </a:solidFill>
                <a:latin typeface="Instrument Sans Bold" pitchFamily="34" charset="0"/>
                <a:ea typeface="Instrument Sans Bold" pitchFamily="34" charset="-122"/>
                <a:cs typeface="Instrument Sans Bold" pitchFamily="34" charset="-120"/>
              </a:rPr>
              <a:t>Role-Based Access Control (RBAC):</a:t>
            </a:r>
            <a:pPr algn="l" indent="0" marL="0">
              <a:lnSpc>
                <a:spcPct val="126000"/>
              </a:lnSpc>
              <a:spcAft>
                <a:spcPts val="900"/>
              </a:spcAft>
              <a:buNone/>
            </a:pPr>
            <a:r>
              <a:rPr lang="en-US" sz="1150" dirty="0">
                <a:solidFill>
                  <a:srgbClr val="FFFFFF"/>
                </a:solidFill>
                <a:latin typeface="Instrument Sans Medium" pitchFamily="34" charset="0"/>
                <a:ea typeface="Instrument Sans Medium" pitchFamily="34" charset="-122"/>
                <a:cs typeface="Instrument Sans Medium" pitchFamily="34" charset="-120"/>
              </a:rPr>
              <a:t> Dedicated credentials and permission levels for District Health Officers, Facility Pharmacists, and unauthenticated public citizens. Clean authentication modal with demo quick-login credentials for zero-friction evaluations.</a:t>
            </a:r>
            <a:endParaRPr lang="en-US" sz="1150" dirty="0"/>
          </a:p>
          <a:p>
            <a:pPr algn="l" indent="0" marL="0">
              <a:lnSpc>
                <a:spcPct val="126000"/>
              </a:lnSpc>
              <a:spcAft>
                <a:spcPts val="900"/>
              </a:spcAft>
              <a:buNone/>
            </a:pPr>
            <a:r>
              <a:rPr lang="en-US" sz="1150" b="1" dirty="0">
                <a:solidFill>
                  <a:srgbClr val="FFFFFF"/>
                </a:solidFill>
                <a:latin typeface="Instrument Sans Bold" pitchFamily="34" charset="0"/>
                <a:ea typeface="Instrument Sans Bold" pitchFamily="34" charset="-122"/>
                <a:cs typeface="Instrument Sans Bold" pitchFamily="34" charset="-120"/>
              </a:rPr>
              <a:t>Unified Single-Domain Architecture:</a:t>
            </a:r>
            <a:pPr algn="l" indent="0" marL="0">
              <a:lnSpc>
                <a:spcPct val="126000"/>
              </a:lnSpc>
              <a:spcAft>
                <a:spcPts val="900"/>
              </a:spcAft>
              <a:buNone/>
            </a:pPr>
            <a:r>
              <a:rPr lang="en-US" sz="1150" dirty="0">
                <a:solidFill>
                  <a:srgbClr val="FFFFFF"/>
                </a:solidFill>
                <a:latin typeface="Instrument Sans Medium" pitchFamily="34" charset="0"/>
                <a:ea typeface="Instrument Sans Medium" pitchFamily="34" charset="-122"/>
                <a:cs typeface="Instrument Sans Medium" pitchFamily="34" charset="-120"/>
              </a:rPr>
              <a:t> Frontend built with </a:t>
            </a:r>
            <a:pPr algn="l" indent="0" marL="0">
              <a:lnSpc>
                <a:spcPct val="126000"/>
              </a:lnSpc>
              <a:spcAft>
                <a:spcPts val="900"/>
              </a:spcAft>
              <a:buNone/>
            </a:pPr>
            <a:r>
              <a:rPr lang="en-US" sz="1150" b="1" dirty="0">
                <a:solidFill>
                  <a:srgbClr val="FFFFFF"/>
                </a:solidFill>
                <a:latin typeface="Instrument Sans Bold" pitchFamily="34" charset="0"/>
                <a:ea typeface="Instrument Sans Bold" pitchFamily="34" charset="-122"/>
                <a:cs typeface="Instrument Sans Bold" pitchFamily="34" charset="-120"/>
              </a:rPr>
              <a:t>React, Vite, and Tailwind CSS</a:t>
            </a:r>
            <a:pPr algn="l" indent="0" marL="0">
              <a:lnSpc>
                <a:spcPct val="126000"/>
              </a:lnSpc>
              <a:spcAft>
                <a:spcPts val="900"/>
              </a:spcAft>
              <a:buNone/>
            </a:pPr>
            <a:r>
              <a:rPr lang="en-US" sz="1150" dirty="0">
                <a:solidFill>
                  <a:srgbClr val="FFFFFF"/>
                </a:solidFill>
                <a:latin typeface="Instrument Sans Medium" pitchFamily="34" charset="0"/>
                <a:ea typeface="Instrument Sans Medium" pitchFamily="34" charset="-122"/>
                <a:cs typeface="Instrument Sans Medium" pitchFamily="34" charset="-120"/>
              </a:rPr>
              <a:t>. Backend built with </a:t>
            </a:r>
            <a:pPr algn="l" indent="0" marL="0">
              <a:lnSpc>
                <a:spcPct val="126000"/>
              </a:lnSpc>
              <a:spcAft>
                <a:spcPts val="900"/>
              </a:spcAft>
              <a:buNone/>
            </a:pPr>
            <a:r>
              <a:rPr lang="en-US" sz="1150" b="1" dirty="0">
                <a:solidFill>
                  <a:srgbClr val="FFFFFF"/>
                </a:solidFill>
                <a:latin typeface="Instrument Sans Bold" pitchFamily="34" charset="0"/>
                <a:ea typeface="Instrument Sans Bold" pitchFamily="34" charset="-122"/>
                <a:cs typeface="Instrument Sans Bold" pitchFamily="34" charset="-120"/>
              </a:rPr>
              <a:t>Node.js and Express</a:t>
            </a:r>
            <a:pPr algn="l" indent="0" marL="0">
              <a:lnSpc>
                <a:spcPct val="126000"/>
              </a:lnSpc>
              <a:spcAft>
                <a:spcPts val="900"/>
              </a:spcAft>
              <a:buNone/>
            </a:pPr>
            <a:r>
              <a:rPr lang="en-US" sz="1150" dirty="0">
                <a:solidFill>
                  <a:srgbClr val="FFFFFF"/>
                </a:solidFill>
                <a:latin typeface="Instrument Sans Medium" pitchFamily="34" charset="0"/>
                <a:ea typeface="Instrument Sans Medium" pitchFamily="34" charset="-122"/>
                <a:cs typeface="Instrument Sans Medium" pitchFamily="34" charset="-120"/>
              </a:rPr>
              <a:t>, pre-configured as serverless edge/lambda functions using </a:t>
            </a:r>
            <a:pPr algn="l" indent="0" marL="0">
              <a:lnSpc>
                <a:spcPct val="126000"/>
              </a:lnSpc>
              <a:spcAft>
                <a:spcPts val="900"/>
              </a:spcAft>
              <a:buNone/>
            </a:pPr>
            <a:r>
              <a:rPr lang="en-US" sz="1150" dirty="0">
                <a:solidFill>
                  <a:srgbClr val="FFFFFF"/>
                </a:solidFill>
                <a:highlight>
                  <a:srgbClr val="0D1B2E"/>
                </a:highlight>
                <a:latin typeface="Consolas" pitchFamily="34" charset="0"/>
                <a:ea typeface="Consolas" pitchFamily="34" charset="-122"/>
                <a:cs typeface="Consolas" pitchFamily="34" charset="-120"/>
              </a:rPr>
              <a:t>vercel.json</a:t>
            </a:r>
            <a:pPr algn="l" indent="0" marL="0">
              <a:lnSpc>
                <a:spcPct val="126000"/>
              </a:lnSpc>
              <a:spcAft>
                <a:spcPts val="900"/>
              </a:spcAft>
              <a:buNone/>
            </a:pPr>
            <a:r>
              <a:rPr lang="en-US" sz="1150" dirty="0">
                <a:solidFill>
                  <a:srgbClr val="FFFFFF"/>
                </a:solidFill>
                <a:latin typeface="Instrument Sans Medium" pitchFamily="34" charset="0"/>
                <a:ea typeface="Instrument Sans Medium" pitchFamily="34" charset="-122"/>
                <a:cs typeface="Instrument Sans Medium" pitchFamily="34" charset="-120"/>
              </a:rPr>
              <a:t> and </a:t>
            </a:r>
            <a:pPr algn="l" indent="0" marL="0">
              <a:lnSpc>
                <a:spcPct val="126000"/>
              </a:lnSpc>
              <a:spcAft>
                <a:spcPts val="900"/>
              </a:spcAft>
              <a:buNone/>
            </a:pPr>
            <a:r>
              <a:rPr lang="en-US" sz="1150" dirty="0">
                <a:solidFill>
                  <a:srgbClr val="FFFFFF"/>
                </a:solidFill>
                <a:highlight>
                  <a:srgbClr val="0D1B2E"/>
                </a:highlight>
                <a:latin typeface="Consolas" pitchFamily="34" charset="0"/>
                <a:ea typeface="Consolas" pitchFamily="34" charset="-122"/>
                <a:cs typeface="Consolas" pitchFamily="34" charset="-120"/>
              </a:rPr>
              <a:t>api/index.js</a:t>
            </a:r>
            <a:pPr algn="l" indent="0" marL="0">
              <a:lnSpc>
                <a:spcPct val="126000"/>
              </a:lnSpc>
              <a:spcAft>
                <a:spcPts val="900"/>
              </a:spcAft>
              <a:buNone/>
            </a:pPr>
            <a:r>
              <a:rPr lang="en-US" sz="1150" dirty="0">
                <a:solidFill>
                  <a:srgbClr val="FFFFFF"/>
                </a:solidFill>
                <a:latin typeface="Instrument Sans Medium" pitchFamily="34" charset="0"/>
                <a:ea typeface="Instrument Sans Medium" pitchFamily="34" charset="-122"/>
                <a:cs typeface="Instrument Sans Medium" pitchFamily="34" charset="-120"/>
              </a:rPr>
              <a:t>.</a:t>
            </a:r>
            <a:endParaRPr lang="en-US" sz="1150" dirty="0"/>
          </a:p>
          <a:p>
            <a:pPr algn="l" indent="0" marL="0">
              <a:lnSpc>
                <a:spcPct val="126000"/>
              </a:lnSpc>
              <a:buNone/>
            </a:pPr>
            <a:r>
              <a:rPr lang="en-US" sz="1150" b="1" dirty="0">
                <a:solidFill>
                  <a:srgbClr val="FFFFFF"/>
                </a:solidFill>
                <a:latin typeface="Instrument Sans Bold" pitchFamily="34" charset="0"/>
                <a:ea typeface="Instrument Sans Bold" pitchFamily="34" charset="-122"/>
                <a:cs typeface="Instrument Sans Bold" pitchFamily="34" charset="-120"/>
              </a:rPr>
              <a:t>Resilient Data Layer:</a:t>
            </a:r>
            <a:pPr algn="l" indent="0" marL="0">
              <a:lnSpc>
                <a:spcPct val="126000"/>
              </a:lnSpc>
              <a:buNone/>
            </a:pPr>
            <a:r>
              <a:rPr lang="en-US" sz="1150" dirty="0">
                <a:solidFill>
                  <a:srgbClr val="FFFFFF"/>
                </a:solidFill>
                <a:latin typeface="Instrument Sans Medium" pitchFamily="34" charset="0"/>
                <a:ea typeface="Instrument Sans Medium" pitchFamily="34" charset="-122"/>
                <a:cs typeface="Instrument Sans Medium" pitchFamily="34" charset="-120"/>
              </a:rPr>
              <a:t> Server-side </a:t>
            </a:r>
            <a:pPr algn="l" indent="0" marL="0">
              <a:lnSpc>
                <a:spcPct val="126000"/>
              </a:lnSpc>
              <a:buNone/>
            </a:pPr>
            <a:r>
              <a:rPr lang="en-US" sz="1150" dirty="0">
                <a:solidFill>
                  <a:srgbClr val="FFFFFF"/>
                </a:solidFill>
                <a:highlight>
                  <a:srgbClr val="0D1B2E"/>
                </a:highlight>
                <a:latin typeface="Consolas" pitchFamily="34" charset="0"/>
                <a:ea typeface="Consolas" pitchFamily="34" charset="-122"/>
                <a:cs typeface="Consolas" pitchFamily="34" charset="-120"/>
              </a:rPr>
              <a:t>db.js</a:t>
            </a:r>
            <a:pPr algn="l" indent="0" marL="0">
              <a:lnSpc>
                <a:spcPct val="126000"/>
              </a:lnSpc>
              <a:buNone/>
            </a:pPr>
            <a:r>
              <a:rPr lang="en-US" sz="1150" dirty="0">
                <a:solidFill>
                  <a:srgbClr val="FFFFFF"/>
                </a:solidFill>
                <a:latin typeface="Instrument Sans Medium" pitchFamily="34" charset="0"/>
                <a:ea typeface="Instrument Sans Medium" pitchFamily="34" charset="-122"/>
                <a:cs typeface="Instrument Sans Medium" pitchFamily="34" charset="-120"/>
              </a:rPr>
              <a:t> automatically switches between local filesystem storage and writable </a:t>
            </a:r>
            <a:pPr algn="l" indent="0" marL="0">
              <a:lnSpc>
                <a:spcPct val="126000"/>
              </a:lnSpc>
              <a:buNone/>
            </a:pPr>
            <a:r>
              <a:rPr lang="en-US" sz="1150" dirty="0">
                <a:solidFill>
                  <a:srgbClr val="FFFFFF"/>
                </a:solidFill>
                <a:highlight>
                  <a:srgbClr val="0D1B2E"/>
                </a:highlight>
                <a:latin typeface="Consolas" pitchFamily="34" charset="0"/>
                <a:ea typeface="Consolas" pitchFamily="34" charset="-122"/>
                <a:cs typeface="Consolas" pitchFamily="34" charset="-120"/>
              </a:rPr>
              <a:t>/tmp</a:t>
            </a:r>
            <a:pPr algn="l" indent="0" marL="0">
              <a:lnSpc>
                <a:spcPct val="126000"/>
              </a:lnSpc>
              <a:buNone/>
            </a:pPr>
            <a:r>
              <a:rPr lang="en-US" sz="1150" dirty="0">
                <a:solidFill>
                  <a:srgbClr val="FFFFFF"/>
                </a:solidFill>
                <a:latin typeface="Instrument Sans Medium" pitchFamily="34" charset="0"/>
                <a:ea typeface="Instrument Sans Medium" pitchFamily="34" charset="-122"/>
                <a:cs typeface="Instrument Sans Medium" pitchFamily="34" charset="-120"/>
              </a:rPr>
              <a:t> cache in cloud environments — preventing read-only filesystem errors in serverless deployments on Google Cloud.</a:t>
            </a:r>
            <a:endParaRPr lang="en-US" sz="1150" dirty="0"/>
          </a:p>
        </p:txBody>
      </p:sp>
      <p:sp>
        <p:nvSpPr>
          <p:cNvPr id="8" name="Shape 6"/>
          <p:cNvSpPr/>
          <p:nvPr/>
        </p:nvSpPr>
        <p:spPr>
          <a:xfrm>
            <a:off x="6323053" y="5213152"/>
            <a:ext cx="5172342" cy="978297"/>
          </a:xfrm>
          <a:prstGeom prst="roundRect">
            <a:avLst>
              <a:gd name="adj" fmla="val 13551"/>
            </a:avLst>
          </a:prstGeom>
          <a:solidFill>
            <a:srgbClr val="183A13"/>
          </a:solidFill>
          <a:ln/>
        </p:spPr>
        <p:txBody>
          <a:bodyPr/>
          <a:p/>
        </p:txBody>
      </p:sp>
      <p:pic>
        <p:nvPicPr>
          <p:cNvPr id="9" name="Image 0" descr="preencoded.png">    </p:cNvPr>
          <p:cNvPicPr>
            <a:picLocks noChangeAspect="1"/>
          </p:cNvPicPr>
          <p:nvPr/>
        </p:nvPicPr>
        <p:blipFill>
          <a:blip r:embed="rId1"/>
          <a:stretch>
            <a:fillRect/>
          </a:stretch>
        </p:blipFill>
        <p:spPr>
          <a:xfrm>
            <a:off x="6470290" y="5410994"/>
            <a:ext cx="184046" cy="147241"/>
          </a:xfrm>
          <a:prstGeom prst="rect">
            <a:avLst/>
          </a:prstGeom>
        </p:spPr>
      </p:pic>
      <p:sp>
        <p:nvSpPr>
          <p:cNvPr id="10" name="Text 7"/>
          <p:cNvSpPr/>
          <p:nvPr/>
        </p:nvSpPr>
        <p:spPr>
          <a:xfrm>
            <a:off x="6801573" y="5368032"/>
            <a:ext cx="4546585" cy="668536"/>
          </a:xfrm>
          <a:prstGeom prst="rect">
            <a:avLst/>
          </a:prstGeom>
          <a:noFill/>
          <a:ln/>
        </p:spPr>
        <p:txBody>
          <a:bodyPr wrap="square" lIns="0" tIns="0" rIns="0" bIns="0" rtlCol="0" anchor="t">
            <a:normAutofit/>
          </a:bodyPr>
          <a:lstStyle/>
          <a:p>
            <a:pPr algn="l" indent="0" marL="0">
              <a:lnSpc>
                <a:spcPct val="126000"/>
              </a:lnSpc>
              <a:buNone/>
            </a:pPr>
            <a:r>
              <a:rPr lang="en-US" sz="1150" b="1" dirty="0">
                <a:solidFill>
                  <a:srgbClr val="FFFFFF"/>
                </a:solidFill>
                <a:latin typeface="Instrument Sans Bold" pitchFamily="34" charset="0"/>
                <a:ea typeface="Instrument Sans Bold" pitchFamily="34" charset="-122"/>
                <a:cs typeface="Instrument Sans Bold" pitchFamily="34" charset="-120"/>
              </a:rPr>
              <a:t>Google Cloud Ready:</a:t>
            </a:r>
            <a:pPr algn="l" indent="0" marL="0">
              <a:lnSpc>
                <a:spcPct val="126000"/>
              </a:lnSpc>
              <a:buNone/>
            </a:pPr>
            <a:r>
              <a:rPr lang="en-US" sz="1150" dirty="0">
                <a:solidFill>
                  <a:srgbClr val="FFFFFF"/>
                </a:solidFill>
                <a:latin typeface="Instrument Sans Medium" pitchFamily="34" charset="0"/>
                <a:ea typeface="Instrument Sans Medium" pitchFamily="34" charset="-122"/>
                <a:cs typeface="Instrument Sans Medium" pitchFamily="34" charset="-120"/>
              </a:rPr>
              <a:t> Architected for immediate deployment on Google Cloud Run or Cloud Functions with zero infrastructure management overhead.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86668"/>
            <a:ext cx="10868745" cy="460375"/>
          </a:xfrm>
          <a:prstGeom prst="rect">
            <a:avLst/>
          </a:prstGeom>
          <a:noFill/>
          <a:ln/>
        </p:spPr>
        <p:txBody>
          <a:bodyPr wrap="none" lIns="0" tIns="0" rIns="0" bIns="0" rtlCol="0" anchor="t"/>
          <a:lstStyle/>
          <a:p>
            <a:pPr algn="l" indent="0" marL="0">
              <a:lnSpc>
                <a:spcPct val="104000"/>
              </a:lnSpc>
              <a:buNone/>
            </a:pPr>
            <a:r>
              <a:rPr lang="en-US" sz="2850" dirty="0">
                <a:solidFill>
                  <a:srgbClr val="091C53"/>
                </a:solidFill>
                <a:latin typeface="Instrument Sans SemiBold" pitchFamily="34" charset="0"/>
                <a:ea typeface="Instrument Sans SemiBold" pitchFamily="34" charset="-122"/>
                <a:cs typeface="Instrument Sans SemiBold" pitchFamily="34" charset="-120"/>
              </a:rPr>
              <a:t>Measurable Real-World Impact</a:t>
            </a:r>
            <a:endParaRPr lang="en-US" sz="2850" dirty="0"/>
          </a:p>
        </p:txBody>
      </p:sp>
      <p:sp>
        <p:nvSpPr>
          <p:cNvPr id="3" name="Text 1"/>
          <p:cNvSpPr/>
          <p:nvPr/>
        </p:nvSpPr>
        <p:spPr>
          <a:xfrm>
            <a:off x="661475" y="1209377"/>
            <a:ext cx="10868745"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Implementing Aushadh Setu across a standard Indian administrative district — serving 2.5 to 3.5 million residents across 40 to 60 health facilities — delivers immediate, quantifiable outcomes that directly address every failure point identified in the problem analysis.</a:t>
            </a:r>
            <a:endParaRPr lang="en-US" sz="1150" dirty="0"/>
          </a:p>
        </p:txBody>
      </p:sp>
      <p:sp>
        <p:nvSpPr>
          <p:cNvPr id="4" name="Text 2"/>
          <p:cNvSpPr/>
          <p:nvPr/>
        </p:nvSpPr>
        <p:spPr>
          <a:xfrm>
            <a:off x="661475" y="1876227"/>
            <a:ext cx="5352420" cy="486073"/>
          </a:xfrm>
          <a:prstGeom prst="rect">
            <a:avLst/>
          </a:prstGeom>
          <a:noFill/>
          <a:ln/>
        </p:spPr>
        <p:txBody>
          <a:bodyPr wrap="none" lIns="0" tIns="0" rIns="0" bIns="0" rtlCol="0" anchor="t"/>
          <a:lstStyle/>
          <a:p>
            <a:pPr algn="ctr" indent="0" marL="0">
              <a:lnSpc>
                <a:spcPct val="83000"/>
              </a:lnSpc>
              <a:buNone/>
            </a:pPr>
            <a:r>
              <a:rPr lang="en-US" sz="3800" dirty="0">
                <a:solidFill>
                  <a:srgbClr val="1E3063"/>
                </a:solidFill>
                <a:latin typeface="Instrument Sans SemiBold" pitchFamily="34" charset="0"/>
                <a:ea typeface="Instrument Sans SemiBold" pitchFamily="34" charset="-122"/>
                <a:cs typeface="Instrument Sans SemiBold" pitchFamily="34" charset="-120"/>
              </a:rPr>
              <a:t>₹3,500</a:t>
            </a:r>
            <a:endParaRPr lang="en-US" sz="3800" dirty="0"/>
          </a:p>
        </p:txBody>
      </p:sp>
      <p:sp>
        <p:nvSpPr>
          <p:cNvPr id="5" name="Text 3"/>
          <p:cNvSpPr/>
          <p:nvPr/>
        </p:nvSpPr>
        <p:spPr>
          <a:xfrm>
            <a:off x="661475" y="2534245"/>
            <a:ext cx="5352420" cy="230187"/>
          </a:xfrm>
          <a:prstGeom prst="rect">
            <a:avLst/>
          </a:prstGeom>
          <a:noFill/>
          <a:ln/>
        </p:spPr>
        <p:txBody>
          <a:bodyPr wrap="none" lIns="0" tIns="0" rIns="0" bIns="0" rtlCol="0" anchor="t"/>
          <a:lstStyle/>
          <a:p>
            <a:pPr algn="ctr" indent="0" marL="0">
              <a:lnSpc>
                <a:spcPct val="104000"/>
              </a:lnSpc>
              <a:buNone/>
            </a:pPr>
            <a:r>
              <a:rPr lang="en-US" sz="1400" dirty="0">
                <a:solidFill>
                  <a:srgbClr val="1E3063"/>
                </a:solidFill>
                <a:latin typeface="Instrument Sans SemiBold" pitchFamily="34" charset="0"/>
                <a:ea typeface="Instrument Sans SemiBold" pitchFamily="34" charset="-122"/>
                <a:cs typeface="Instrument Sans SemiBold" pitchFamily="34" charset="-120"/>
              </a:rPr>
              <a:t>Saved Per Illness Episode</a:t>
            </a:r>
            <a:endParaRPr lang="en-US" sz="1400" dirty="0"/>
          </a:p>
        </p:txBody>
      </p:sp>
      <p:sp>
        <p:nvSpPr>
          <p:cNvPr id="6" name="Text 4"/>
          <p:cNvSpPr/>
          <p:nvPr/>
        </p:nvSpPr>
        <p:spPr>
          <a:xfrm>
            <a:off x="661475" y="2843113"/>
            <a:ext cx="5352420" cy="668536"/>
          </a:xfrm>
          <a:prstGeom prst="rect">
            <a:avLst/>
          </a:prstGeom>
          <a:noFill/>
          <a:ln/>
        </p:spPr>
        <p:txBody>
          <a:bodyPr wrap="square" lIns="0" tIns="0" rIns="0" bIns="0" rtlCol="0" anchor="t">
            <a:normAutofit/>
          </a:bodyPr>
          <a:lstStyle/>
          <a:p>
            <a:pPr algn="ctr" indent="0" marL="0">
              <a:lnSpc>
                <a:spcPct val="12600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By maintaining continuous availability of essential drugs at primary health clinics, low-income families are spared private retail chemist markups — saving between ₹800 and ₹3,500 per acute illness episode.</a:t>
            </a:r>
            <a:endParaRPr lang="en-US" sz="1150" dirty="0"/>
          </a:p>
        </p:txBody>
      </p:sp>
      <p:sp>
        <p:nvSpPr>
          <p:cNvPr id="7" name="Text 5"/>
          <p:cNvSpPr/>
          <p:nvPr/>
        </p:nvSpPr>
        <p:spPr>
          <a:xfrm>
            <a:off x="6177800" y="1876227"/>
            <a:ext cx="5352420" cy="486073"/>
          </a:xfrm>
          <a:prstGeom prst="rect">
            <a:avLst/>
          </a:prstGeom>
          <a:noFill/>
          <a:ln/>
        </p:spPr>
        <p:txBody>
          <a:bodyPr wrap="none" lIns="0" tIns="0" rIns="0" bIns="0" rtlCol="0" anchor="t"/>
          <a:lstStyle/>
          <a:p>
            <a:pPr algn="ctr" indent="0" marL="0">
              <a:lnSpc>
                <a:spcPct val="83000"/>
              </a:lnSpc>
              <a:buNone/>
            </a:pPr>
            <a:r>
              <a:rPr lang="en-US" sz="3800" dirty="0">
                <a:solidFill>
                  <a:srgbClr val="1E3063"/>
                </a:solidFill>
                <a:latin typeface="Instrument Sans SemiBold" pitchFamily="34" charset="0"/>
                <a:ea typeface="Instrument Sans SemiBold" pitchFamily="34" charset="-122"/>
                <a:cs typeface="Instrument Sans SemiBold" pitchFamily="34" charset="-120"/>
              </a:rPr>
              <a:t>₹80L</a:t>
            </a:r>
            <a:endParaRPr lang="en-US" sz="3800" dirty="0"/>
          </a:p>
        </p:txBody>
      </p:sp>
      <p:sp>
        <p:nvSpPr>
          <p:cNvPr id="8" name="Text 6"/>
          <p:cNvSpPr/>
          <p:nvPr/>
        </p:nvSpPr>
        <p:spPr>
          <a:xfrm>
            <a:off x="6177800" y="2534245"/>
            <a:ext cx="5352420" cy="230187"/>
          </a:xfrm>
          <a:prstGeom prst="rect">
            <a:avLst/>
          </a:prstGeom>
          <a:noFill/>
          <a:ln/>
        </p:spPr>
        <p:txBody>
          <a:bodyPr wrap="none" lIns="0" tIns="0" rIns="0" bIns="0" rtlCol="0" anchor="t"/>
          <a:lstStyle/>
          <a:p>
            <a:pPr algn="ctr" indent="0" marL="0">
              <a:lnSpc>
                <a:spcPct val="104000"/>
              </a:lnSpc>
              <a:buNone/>
            </a:pPr>
            <a:r>
              <a:rPr lang="en-US" sz="1400" dirty="0">
                <a:solidFill>
                  <a:srgbClr val="1E3063"/>
                </a:solidFill>
                <a:latin typeface="Instrument Sans SemiBold" pitchFamily="34" charset="0"/>
                <a:ea typeface="Instrument Sans SemiBold" pitchFamily="34" charset="-122"/>
                <a:cs typeface="Instrument Sans SemiBold" pitchFamily="34" charset="-120"/>
              </a:rPr>
              <a:t>Medicines Rescued Annually</a:t>
            </a:r>
            <a:endParaRPr lang="en-US" sz="1400" dirty="0"/>
          </a:p>
        </p:txBody>
      </p:sp>
      <p:sp>
        <p:nvSpPr>
          <p:cNvPr id="9" name="Text 7"/>
          <p:cNvSpPr/>
          <p:nvPr/>
        </p:nvSpPr>
        <p:spPr>
          <a:xfrm>
            <a:off x="6177800" y="2843113"/>
            <a:ext cx="5352420" cy="668536"/>
          </a:xfrm>
          <a:prstGeom prst="rect">
            <a:avLst/>
          </a:prstGeom>
          <a:noFill/>
          <a:ln/>
        </p:spPr>
        <p:txBody>
          <a:bodyPr wrap="square" lIns="0" tIns="0" rIns="0" bIns="0" rtlCol="0" anchor="t">
            <a:normAutofit/>
          </a:bodyPr>
          <a:lstStyle/>
          <a:p>
            <a:pPr algn="ctr" indent="0" marL="0">
              <a:lnSpc>
                <a:spcPct val="12600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Inter-facility FEFO rebalancing redirects near-expiry batches from low-volume dispensaries to high-volume taluk and district hospitals, recovering up to ₹40–80 lakhs of government-purchased medicines per district per year.</a:t>
            </a:r>
            <a:endParaRPr lang="en-US" sz="1150" dirty="0"/>
          </a:p>
        </p:txBody>
      </p:sp>
      <p:sp>
        <p:nvSpPr>
          <p:cNvPr id="10" name="Text 8"/>
          <p:cNvSpPr/>
          <p:nvPr/>
        </p:nvSpPr>
        <p:spPr>
          <a:xfrm>
            <a:off x="661475" y="3847604"/>
            <a:ext cx="5352420" cy="486073"/>
          </a:xfrm>
          <a:prstGeom prst="rect">
            <a:avLst/>
          </a:prstGeom>
          <a:noFill/>
          <a:ln/>
        </p:spPr>
        <p:txBody>
          <a:bodyPr wrap="none" lIns="0" tIns="0" rIns="0" bIns="0" rtlCol="0" anchor="t"/>
          <a:lstStyle/>
          <a:p>
            <a:pPr algn="ctr" indent="0" marL="0">
              <a:lnSpc>
                <a:spcPct val="83000"/>
              </a:lnSpc>
              <a:buNone/>
            </a:pPr>
            <a:r>
              <a:rPr lang="en-US" sz="3800" dirty="0">
                <a:solidFill>
                  <a:srgbClr val="1E3063"/>
                </a:solidFill>
                <a:latin typeface="Instrument Sans SemiBold" pitchFamily="34" charset="0"/>
                <a:ea typeface="Instrument Sans SemiBold" pitchFamily="34" charset="-122"/>
                <a:cs typeface="Instrument Sans SemiBold" pitchFamily="34" charset="-120"/>
              </a:rPr>
              <a:t>48hrs</a:t>
            </a:r>
            <a:endParaRPr lang="en-US" sz="3800" dirty="0"/>
          </a:p>
        </p:txBody>
      </p:sp>
      <p:sp>
        <p:nvSpPr>
          <p:cNvPr id="11" name="Text 9"/>
          <p:cNvSpPr/>
          <p:nvPr/>
        </p:nvSpPr>
        <p:spPr>
          <a:xfrm>
            <a:off x="661475" y="4505623"/>
            <a:ext cx="5352420" cy="230187"/>
          </a:xfrm>
          <a:prstGeom prst="rect">
            <a:avLst/>
          </a:prstGeom>
          <a:noFill/>
          <a:ln/>
        </p:spPr>
        <p:txBody>
          <a:bodyPr wrap="none" lIns="0" tIns="0" rIns="0" bIns="0" rtlCol="0" anchor="t"/>
          <a:lstStyle/>
          <a:p>
            <a:pPr algn="ctr" indent="0" marL="0">
              <a:lnSpc>
                <a:spcPct val="104000"/>
              </a:lnSpc>
              <a:buNone/>
            </a:pPr>
            <a:r>
              <a:rPr lang="en-US" sz="1400" dirty="0">
                <a:solidFill>
                  <a:srgbClr val="1E3063"/>
                </a:solidFill>
                <a:latin typeface="Instrument Sans SemiBold" pitchFamily="34" charset="0"/>
                <a:ea typeface="Instrument Sans SemiBold" pitchFamily="34" charset="-122"/>
                <a:cs typeface="Instrument Sans SemiBold" pitchFamily="34" charset="-120"/>
              </a:rPr>
              <a:t>Outbreak Response Time</a:t>
            </a:r>
            <a:endParaRPr lang="en-US" sz="1400" dirty="0"/>
          </a:p>
        </p:txBody>
      </p:sp>
      <p:sp>
        <p:nvSpPr>
          <p:cNvPr id="12" name="Text 10"/>
          <p:cNvSpPr/>
          <p:nvPr/>
        </p:nvSpPr>
        <p:spPr>
          <a:xfrm>
            <a:off x="661475" y="4814491"/>
            <a:ext cx="5352420" cy="668536"/>
          </a:xfrm>
          <a:prstGeom prst="rect">
            <a:avLst/>
          </a:prstGeom>
          <a:noFill/>
          <a:ln/>
        </p:spPr>
        <p:txBody>
          <a:bodyPr wrap="square" lIns="0" tIns="0" rIns="0" bIns="0" rtlCol="0" anchor="t">
            <a:normAutofit/>
          </a:bodyPr>
          <a:lstStyle/>
          <a:p>
            <a:pPr algn="ctr" indent="0" marL="0">
              <a:lnSpc>
                <a:spcPct val="12600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Reduces response latency during seasonal epidemics from 2–3 weeks down to 48 hours — enabling health departments to flood outbreak epicentres with IV fluids, antibiotics, and testing kits before casualty rates climb.</a:t>
            </a:r>
            <a:endParaRPr lang="en-US" sz="1150" dirty="0"/>
          </a:p>
        </p:txBody>
      </p:sp>
      <p:sp>
        <p:nvSpPr>
          <p:cNvPr id="13" name="Text 11"/>
          <p:cNvSpPr/>
          <p:nvPr/>
        </p:nvSpPr>
        <p:spPr>
          <a:xfrm>
            <a:off x="6177800" y="3847604"/>
            <a:ext cx="5352420" cy="486073"/>
          </a:xfrm>
          <a:prstGeom prst="rect">
            <a:avLst/>
          </a:prstGeom>
          <a:noFill/>
          <a:ln/>
        </p:spPr>
        <p:txBody>
          <a:bodyPr wrap="none" lIns="0" tIns="0" rIns="0" bIns="0" rtlCol="0" anchor="t"/>
          <a:lstStyle/>
          <a:p>
            <a:pPr algn="ctr" indent="0" marL="0">
              <a:lnSpc>
                <a:spcPct val="83000"/>
              </a:lnSpc>
              <a:buNone/>
            </a:pPr>
            <a:r>
              <a:rPr lang="en-US" sz="3800" dirty="0">
                <a:solidFill>
                  <a:srgbClr val="1E3063"/>
                </a:solidFill>
                <a:latin typeface="Instrument Sans SemiBold" pitchFamily="34" charset="0"/>
                <a:ea typeface="Instrument Sans SemiBold" pitchFamily="34" charset="-122"/>
                <a:cs typeface="Instrument Sans SemiBold" pitchFamily="34" charset="-120"/>
              </a:rPr>
              <a:t>0</a:t>
            </a:r>
            <a:endParaRPr lang="en-US" sz="3800" dirty="0"/>
          </a:p>
        </p:txBody>
      </p:sp>
      <p:sp>
        <p:nvSpPr>
          <p:cNvPr id="14" name="Text 12"/>
          <p:cNvSpPr/>
          <p:nvPr/>
        </p:nvSpPr>
        <p:spPr>
          <a:xfrm>
            <a:off x="6177800" y="4505623"/>
            <a:ext cx="5352420" cy="230187"/>
          </a:xfrm>
          <a:prstGeom prst="rect">
            <a:avLst/>
          </a:prstGeom>
          <a:noFill/>
          <a:ln/>
        </p:spPr>
        <p:txBody>
          <a:bodyPr wrap="none" lIns="0" tIns="0" rIns="0" bIns="0" rtlCol="0" anchor="t"/>
          <a:lstStyle/>
          <a:p>
            <a:pPr algn="ctr" indent="0" marL="0">
              <a:lnSpc>
                <a:spcPct val="104000"/>
              </a:lnSpc>
              <a:buNone/>
            </a:pPr>
            <a:r>
              <a:rPr lang="en-US" sz="1400" dirty="0">
                <a:solidFill>
                  <a:srgbClr val="1E3063"/>
                </a:solidFill>
                <a:latin typeface="Instrument Sans SemiBold" pitchFamily="34" charset="0"/>
                <a:ea typeface="Instrument Sans SemiBold" pitchFamily="34" charset="-122"/>
                <a:cs typeface="Instrument Sans SemiBold" pitchFamily="34" charset="-120"/>
              </a:rPr>
              <a:t>Wasted Patient Journeys</a:t>
            </a:r>
            <a:endParaRPr lang="en-US" sz="1400" dirty="0"/>
          </a:p>
        </p:txBody>
      </p:sp>
      <p:sp>
        <p:nvSpPr>
          <p:cNvPr id="15" name="Text 13"/>
          <p:cNvSpPr/>
          <p:nvPr/>
        </p:nvSpPr>
        <p:spPr>
          <a:xfrm>
            <a:off x="6177800" y="4814491"/>
            <a:ext cx="5352420" cy="668536"/>
          </a:xfrm>
          <a:prstGeom prst="rect">
            <a:avLst/>
          </a:prstGeom>
          <a:noFill/>
          <a:ln/>
        </p:spPr>
        <p:txBody>
          <a:bodyPr wrap="square" lIns="0" tIns="0" rIns="0" bIns="0" rtlCol="0" anchor="t">
            <a:normAutofit/>
          </a:bodyPr>
          <a:lstStyle/>
          <a:p>
            <a:pPr algn="ctr" indent="0" marL="0">
              <a:lnSpc>
                <a:spcPct val="12600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The Citizen Public Medicine Finder allows villagers and urban citizens to verify medicine availability and opening hours before leaving their homes — eliminating futile trips and lost daily wages entirely.</a:t>
            </a:r>
            <a:endParaRPr lang="en-US" sz="1150" dirty="0"/>
          </a:p>
        </p:txBody>
      </p:sp>
      <p:sp>
        <p:nvSpPr>
          <p:cNvPr id="16" name="Text 14"/>
          <p:cNvSpPr/>
          <p:nvPr/>
        </p:nvSpPr>
        <p:spPr>
          <a:xfrm>
            <a:off x="882330" y="5778103"/>
            <a:ext cx="10647890"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"No citizen in India should spend their hard-earned money, time, and hope travelling to a public health clinic, only to be turned away because life-saving medicines are out of stock or sitting expired on a distant warehouse shelf." — </a:t>
            </a:r>
            <a:pPr algn="l" indent="0" marL="0">
              <a:lnSpc>
                <a:spcPct val="126000"/>
              </a:lnSpc>
              <a:buNone/>
            </a:pPr>
            <a:r>
              <a:rPr lang="en-US" sz="1150" b="1" dirty="0">
                <a:solidFill>
                  <a:srgbClr val="1E3063"/>
                </a:solidFill>
                <a:latin typeface="Instrument Sans Bold" pitchFamily="34" charset="0"/>
                <a:ea typeface="Instrument Sans Bold" pitchFamily="34" charset="-122"/>
                <a:cs typeface="Instrument Sans Bold" pitchFamily="34" charset="-120"/>
              </a:rPr>
              <a:t>Aushadh Setu Mission Statement</a:t>
            </a:r>
            <a:endParaRPr lang="en-US" sz="1150" dirty="0"/>
          </a:p>
        </p:txBody>
      </p:sp>
      <p:sp>
        <p:nvSpPr>
          <p:cNvPr id="17" name="Shape 15"/>
          <p:cNvSpPr/>
          <p:nvPr/>
        </p:nvSpPr>
        <p:spPr>
          <a:xfrm>
            <a:off x="661475" y="5630565"/>
            <a:ext cx="19050" cy="740767"/>
          </a:xfrm>
          <a:prstGeom prst="roundRect">
            <a:avLst>
              <a:gd name="adj" fmla="val 49999"/>
            </a:avLst>
          </a:prstGeom>
          <a:solidFill>
            <a:srgbClr val="84C1FA"/>
          </a:solidFill>
          <a:ln/>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2026-09-28T11:25:29Z</dcterms:created>
  <dcterms:modified xsi:type="dcterms:W3CDTF">2026-09-28T11:25:29Z</dcterms:modified>
</cp:coreProperties>
</file>